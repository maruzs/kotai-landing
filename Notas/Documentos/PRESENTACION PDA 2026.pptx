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21"/>
  </p:notesMasterIdLst>
  <p:handoutMasterIdLst>
    <p:handoutMasterId r:id="rId22"/>
  </p:handoutMasterIdLst>
  <p:sldIdLst>
    <p:sldId id="257" r:id="rId2"/>
    <p:sldId id="262" r:id="rId3"/>
    <p:sldId id="444" r:id="rId4"/>
    <p:sldId id="442" r:id="rId5"/>
    <p:sldId id="425" r:id="rId6"/>
    <p:sldId id="445" r:id="rId7"/>
    <p:sldId id="448" r:id="rId8"/>
    <p:sldId id="432" r:id="rId9"/>
    <p:sldId id="395" r:id="rId10"/>
    <p:sldId id="447" r:id="rId11"/>
    <p:sldId id="341" r:id="rId12"/>
    <p:sldId id="363" r:id="rId13"/>
    <p:sldId id="449" r:id="rId14"/>
    <p:sldId id="450" r:id="rId15"/>
    <p:sldId id="456" r:id="rId16"/>
    <p:sldId id="451" r:id="rId17"/>
    <p:sldId id="452" r:id="rId18"/>
    <p:sldId id="453" r:id="rId19"/>
    <p:sldId id="446" r:id="rId20"/>
  </p:sldIdLst>
  <p:sldSz cx="9144000" cy="6858000" type="screen4x3"/>
  <p:notesSz cx="7099300" cy="121285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136C27D8-2A05-4805-B9D8-E9AD9860A45C}">
          <p14:sldIdLst>
            <p14:sldId id="257"/>
            <p14:sldId id="262"/>
            <p14:sldId id="444"/>
            <p14:sldId id="442"/>
            <p14:sldId id="425"/>
            <p14:sldId id="445"/>
            <p14:sldId id="448"/>
            <p14:sldId id="432"/>
            <p14:sldId id="395"/>
            <p14:sldId id="447"/>
            <p14:sldId id="341"/>
            <p14:sldId id="363"/>
            <p14:sldId id="449"/>
            <p14:sldId id="450"/>
            <p14:sldId id="456"/>
            <p14:sldId id="451"/>
            <p14:sldId id="452"/>
            <p14:sldId id="453"/>
            <p14:sldId id="4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3849"/>
    <a:srgbClr val="8C0C1E"/>
    <a:srgbClr val="FFFF66"/>
    <a:srgbClr val="FF99CC"/>
    <a:srgbClr val="00FFFF"/>
    <a:srgbClr val="33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Estilo claro 2 - Acento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Estilo medio 1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Estilo medio 1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691" autoAdjust="0"/>
    <p:restoredTop sz="94660"/>
  </p:normalViewPr>
  <p:slideViewPr>
    <p:cSldViewPr>
      <p:cViewPr varScale="1">
        <p:scale>
          <a:sx n="69" d="100"/>
          <a:sy n="69" d="100"/>
        </p:scale>
        <p:origin x="116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CDDDE8-58E2-4B1F-BAD0-415F90E270D6}" type="doc">
      <dgm:prSet loTypeId="urn:microsoft.com/office/officeart/2008/layout/VerticalCurvedList" loCatId="list" qsTypeId="urn:microsoft.com/office/officeart/2005/8/quickstyle/3d4" qsCatId="3D" csTypeId="urn:microsoft.com/office/officeart/2005/8/colors/accent4_5" csCatId="accent4" phldr="1"/>
      <dgm:spPr/>
      <dgm:t>
        <a:bodyPr/>
        <a:lstStyle/>
        <a:p>
          <a:endParaRPr lang="es-CL"/>
        </a:p>
      </dgm:t>
    </dgm:pt>
    <dgm:pt modelId="{E5EBCF3E-0912-4042-8AA3-D30D77394E21}">
      <dgm:prSet custT="1"/>
      <dgm:spPr/>
      <dgm:t>
        <a:bodyPr/>
        <a:lstStyle/>
        <a:p>
          <a:r>
            <a:rPr lang="es-ES" sz="1800" dirty="0">
              <a:solidFill>
                <a:schemeClr val="tx1"/>
              </a:solidFill>
            </a:rPr>
            <a:t>Ser mayor de 18 años de edad.</a:t>
          </a:r>
          <a:endParaRPr lang="es-CL" sz="1800" dirty="0">
            <a:solidFill>
              <a:schemeClr val="tx1"/>
            </a:solidFill>
          </a:endParaRPr>
        </a:p>
      </dgm:t>
    </dgm:pt>
    <dgm:pt modelId="{01EC045D-4C35-4CA3-B38F-9A8B0E9AE0F7}" type="parTrans" cxnId="{7E58ABD3-AC68-4525-8F5A-33215D5E47DB}">
      <dgm:prSet/>
      <dgm:spPr/>
      <dgm:t>
        <a:bodyPr/>
        <a:lstStyle/>
        <a:p>
          <a:endParaRPr lang="es-CL">
            <a:solidFill>
              <a:schemeClr val="tx1"/>
            </a:solidFill>
          </a:endParaRPr>
        </a:p>
      </dgm:t>
    </dgm:pt>
    <dgm:pt modelId="{C7563C97-48A5-44A4-B833-DD88B569E802}" type="sibTrans" cxnId="{7E58ABD3-AC68-4525-8F5A-33215D5E47DB}">
      <dgm:prSet/>
      <dgm:spPr/>
      <dgm:t>
        <a:bodyPr/>
        <a:lstStyle/>
        <a:p>
          <a:endParaRPr lang="es-CL">
            <a:solidFill>
              <a:schemeClr val="tx1"/>
            </a:solidFill>
          </a:endParaRPr>
        </a:p>
      </dgm:t>
    </dgm:pt>
    <dgm:pt modelId="{D06EAEE4-8A05-4FFA-BD84-95D2B34E98C5}">
      <dgm:prSet custT="1"/>
      <dgm:spPr/>
      <dgm:t>
        <a:bodyPr/>
        <a:lstStyle/>
        <a:p>
          <a:r>
            <a:rPr lang="es-ES" sz="1800" dirty="0">
              <a:solidFill>
                <a:schemeClr val="tx1"/>
              </a:solidFill>
            </a:rPr>
            <a:t>Acreditar una vivienda que cuente con permiso de edificación y recepción definitiva hasta el año 2009.</a:t>
          </a:r>
          <a:r>
            <a:rPr lang="es-ES" sz="1500" dirty="0">
              <a:solidFill>
                <a:schemeClr val="tx1"/>
              </a:solidFill>
            </a:rPr>
            <a:t> </a:t>
          </a:r>
          <a:endParaRPr lang="es-CL" sz="1500" dirty="0">
            <a:solidFill>
              <a:schemeClr val="tx1"/>
            </a:solidFill>
          </a:endParaRPr>
        </a:p>
      </dgm:t>
    </dgm:pt>
    <dgm:pt modelId="{BD2C09CD-71C2-4776-82BC-829A21E32236}" type="parTrans" cxnId="{3E816726-B537-4ADE-807B-A467E92108DF}">
      <dgm:prSet/>
      <dgm:spPr/>
      <dgm:t>
        <a:bodyPr/>
        <a:lstStyle/>
        <a:p>
          <a:endParaRPr lang="es-CL">
            <a:solidFill>
              <a:schemeClr val="tx1"/>
            </a:solidFill>
          </a:endParaRPr>
        </a:p>
      </dgm:t>
    </dgm:pt>
    <dgm:pt modelId="{F252EB56-B020-4987-8792-4A29E6B8CF08}" type="sibTrans" cxnId="{3E816726-B537-4ADE-807B-A467E92108DF}">
      <dgm:prSet/>
      <dgm:spPr/>
      <dgm:t>
        <a:bodyPr/>
        <a:lstStyle/>
        <a:p>
          <a:endParaRPr lang="es-CL">
            <a:solidFill>
              <a:schemeClr val="tx1"/>
            </a:solidFill>
          </a:endParaRPr>
        </a:p>
      </dgm:t>
    </dgm:pt>
    <dgm:pt modelId="{0A504E0B-067E-48D1-BF3A-58831F0464E2}">
      <dgm:prSet custT="1"/>
      <dgm:spPr/>
      <dgm:t>
        <a:bodyPr/>
        <a:lstStyle/>
        <a:p>
          <a:r>
            <a:rPr lang="es-ES" sz="1800" dirty="0">
              <a:solidFill>
                <a:schemeClr val="tx1"/>
              </a:solidFill>
            </a:rPr>
            <a:t>Viviendas cuyo avalúo fiscal sea inferior a </a:t>
          </a:r>
          <a:r>
            <a:rPr lang="es-ES" sz="1800" b="1" dirty="0">
              <a:solidFill>
                <a:schemeClr val="tx1"/>
              </a:solidFill>
            </a:rPr>
            <a:t>1.375 UF.</a:t>
          </a:r>
          <a:endParaRPr lang="es-CL" sz="1500" dirty="0">
            <a:solidFill>
              <a:schemeClr val="tx1"/>
            </a:solidFill>
          </a:endParaRPr>
        </a:p>
      </dgm:t>
    </dgm:pt>
    <dgm:pt modelId="{8A15B63A-4A70-4E8E-8B63-A2B5BDE6B63D}" type="parTrans" cxnId="{318A7164-14D7-4AE7-8F4F-187E226CF810}">
      <dgm:prSet/>
      <dgm:spPr/>
      <dgm:t>
        <a:bodyPr/>
        <a:lstStyle/>
        <a:p>
          <a:endParaRPr lang="es-CL">
            <a:solidFill>
              <a:schemeClr val="tx1"/>
            </a:solidFill>
          </a:endParaRPr>
        </a:p>
      </dgm:t>
    </dgm:pt>
    <dgm:pt modelId="{2EA0203C-AA48-4D3A-80AE-A5949883748E}" type="sibTrans" cxnId="{318A7164-14D7-4AE7-8F4F-187E226CF810}">
      <dgm:prSet/>
      <dgm:spPr/>
      <dgm:t>
        <a:bodyPr/>
        <a:lstStyle/>
        <a:p>
          <a:endParaRPr lang="es-CL">
            <a:solidFill>
              <a:schemeClr val="tx1"/>
            </a:solidFill>
          </a:endParaRPr>
        </a:p>
      </dgm:t>
    </dgm:pt>
    <dgm:pt modelId="{31BE7CBC-152C-486C-A086-58B952440972}">
      <dgm:prSet custT="1"/>
      <dgm:spPr/>
      <dgm:t>
        <a:bodyPr/>
        <a:lstStyle/>
        <a:p>
          <a:r>
            <a:rPr lang="es-ES" sz="1800" dirty="0">
              <a:solidFill>
                <a:schemeClr val="tx1"/>
              </a:solidFill>
            </a:rPr>
            <a:t>Contar con Registro Social de Hogares con la misma dirección (donde postula y donde reside) hasta el 70%.</a:t>
          </a:r>
          <a:endParaRPr lang="es-CL" sz="1800" dirty="0">
            <a:solidFill>
              <a:schemeClr val="tx1"/>
            </a:solidFill>
          </a:endParaRPr>
        </a:p>
      </dgm:t>
    </dgm:pt>
    <dgm:pt modelId="{D549E3C0-A2E8-4CB9-ADE1-55CAE7BFC63C}" type="parTrans" cxnId="{EB4F2E15-FEFA-4B68-BA1D-002E921B9337}">
      <dgm:prSet/>
      <dgm:spPr/>
      <dgm:t>
        <a:bodyPr/>
        <a:lstStyle/>
        <a:p>
          <a:endParaRPr lang="es-CL">
            <a:solidFill>
              <a:schemeClr val="tx1"/>
            </a:solidFill>
          </a:endParaRPr>
        </a:p>
      </dgm:t>
    </dgm:pt>
    <dgm:pt modelId="{8D647250-0B97-4439-AEDA-1B38120A12BE}" type="sibTrans" cxnId="{EB4F2E15-FEFA-4B68-BA1D-002E921B9337}">
      <dgm:prSet/>
      <dgm:spPr/>
      <dgm:t>
        <a:bodyPr/>
        <a:lstStyle/>
        <a:p>
          <a:endParaRPr lang="es-CL">
            <a:solidFill>
              <a:schemeClr val="tx1"/>
            </a:solidFill>
          </a:endParaRPr>
        </a:p>
      </dgm:t>
    </dgm:pt>
    <dgm:pt modelId="{72E5E1F6-1E28-41FA-B24D-AA14AAF1AD26}">
      <dgm:prSet custT="1"/>
      <dgm:spPr/>
      <dgm:t>
        <a:bodyPr/>
        <a:lstStyle/>
        <a:p>
          <a:r>
            <a:rPr lang="es-ES" sz="1800" dirty="0">
              <a:solidFill>
                <a:schemeClr val="tx1"/>
              </a:solidFill>
            </a:rPr>
            <a:t>Tener libreta de ahorro para la vivienda, y contar con ahorro mínimo exigido en el presente llamado.</a:t>
          </a:r>
          <a:endParaRPr lang="es-CL" sz="1800" dirty="0">
            <a:solidFill>
              <a:schemeClr val="tx1"/>
            </a:solidFill>
          </a:endParaRPr>
        </a:p>
      </dgm:t>
    </dgm:pt>
    <dgm:pt modelId="{8F82E08C-6B4D-4F02-B125-AE70851ADF3F}" type="parTrans" cxnId="{085265D5-B4B5-4E18-B151-9D42DFBA476B}">
      <dgm:prSet/>
      <dgm:spPr/>
      <dgm:t>
        <a:bodyPr/>
        <a:lstStyle/>
        <a:p>
          <a:endParaRPr lang="es-CL">
            <a:solidFill>
              <a:schemeClr val="tx1"/>
            </a:solidFill>
          </a:endParaRPr>
        </a:p>
      </dgm:t>
    </dgm:pt>
    <dgm:pt modelId="{E6FECA91-47BF-4CFA-94DD-B34C689F577F}" type="sibTrans" cxnId="{085265D5-B4B5-4E18-B151-9D42DFBA476B}">
      <dgm:prSet/>
      <dgm:spPr/>
      <dgm:t>
        <a:bodyPr/>
        <a:lstStyle/>
        <a:p>
          <a:endParaRPr lang="es-CL">
            <a:solidFill>
              <a:schemeClr val="tx1"/>
            </a:solidFill>
          </a:endParaRPr>
        </a:p>
      </dgm:t>
    </dgm:pt>
    <dgm:pt modelId="{31E73898-FA10-4C22-91B6-8F118E664948}">
      <dgm:prSet custT="1"/>
      <dgm:spPr/>
      <dgm:t>
        <a:bodyPr/>
        <a:lstStyle/>
        <a:p>
          <a:r>
            <a:rPr lang="es-CL" sz="2000" dirty="0">
              <a:solidFill>
                <a:schemeClr val="tx1"/>
              </a:solidFill>
            </a:rPr>
            <a:t>Que la Vivienda no exceda los 90m2 (Previa evaluación en visita técnica)</a:t>
          </a:r>
        </a:p>
      </dgm:t>
    </dgm:pt>
    <dgm:pt modelId="{EF8165E0-64A3-4604-B553-75DE020CBCA8}" type="parTrans" cxnId="{68B83653-6535-4EB9-9AB8-F267722F4484}">
      <dgm:prSet/>
      <dgm:spPr/>
      <dgm:t>
        <a:bodyPr/>
        <a:lstStyle/>
        <a:p>
          <a:endParaRPr lang="es-CL">
            <a:solidFill>
              <a:schemeClr val="tx1"/>
            </a:solidFill>
          </a:endParaRPr>
        </a:p>
      </dgm:t>
    </dgm:pt>
    <dgm:pt modelId="{6EFC20B3-4365-45BD-9FF4-C4FCB2E29AB5}" type="sibTrans" cxnId="{68B83653-6535-4EB9-9AB8-F267722F4484}">
      <dgm:prSet/>
      <dgm:spPr/>
      <dgm:t>
        <a:bodyPr/>
        <a:lstStyle/>
        <a:p>
          <a:endParaRPr lang="es-CL">
            <a:solidFill>
              <a:schemeClr val="tx1"/>
            </a:solidFill>
          </a:endParaRPr>
        </a:p>
      </dgm:t>
    </dgm:pt>
    <dgm:pt modelId="{04AA07EE-79F9-49C9-8B9F-3D3D37854431}" type="pres">
      <dgm:prSet presAssocID="{7ECDDDE8-58E2-4B1F-BAD0-415F90E270D6}" presName="Name0" presStyleCnt="0">
        <dgm:presLayoutVars>
          <dgm:chMax val="7"/>
          <dgm:chPref val="7"/>
          <dgm:dir/>
        </dgm:presLayoutVars>
      </dgm:prSet>
      <dgm:spPr/>
    </dgm:pt>
    <dgm:pt modelId="{39F2E090-ABFB-489E-A151-8420162FB88E}" type="pres">
      <dgm:prSet presAssocID="{7ECDDDE8-58E2-4B1F-BAD0-415F90E270D6}" presName="Name1" presStyleCnt="0"/>
      <dgm:spPr/>
    </dgm:pt>
    <dgm:pt modelId="{0EE44FB4-CD30-4CE7-895C-76A3ACA70178}" type="pres">
      <dgm:prSet presAssocID="{7ECDDDE8-58E2-4B1F-BAD0-415F90E270D6}" presName="cycle" presStyleCnt="0"/>
      <dgm:spPr/>
    </dgm:pt>
    <dgm:pt modelId="{CC01A666-D9AD-441E-B5CA-788678DE8569}" type="pres">
      <dgm:prSet presAssocID="{7ECDDDE8-58E2-4B1F-BAD0-415F90E270D6}" presName="srcNode" presStyleLbl="node1" presStyleIdx="0" presStyleCnt="6"/>
      <dgm:spPr/>
    </dgm:pt>
    <dgm:pt modelId="{449825BB-1B6B-45E9-AF84-6CC17B05AF88}" type="pres">
      <dgm:prSet presAssocID="{7ECDDDE8-58E2-4B1F-BAD0-415F90E270D6}" presName="conn" presStyleLbl="parChTrans1D2" presStyleIdx="0" presStyleCnt="1"/>
      <dgm:spPr/>
    </dgm:pt>
    <dgm:pt modelId="{80853DA6-6DC4-4701-B9E9-007358E13CFE}" type="pres">
      <dgm:prSet presAssocID="{7ECDDDE8-58E2-4B1F-BAD0-415F90E270D6}" presName="extraNode" presStyleLbl="node1" presStyleIdx="0" presStyleCnt="6"/>
      <dgm:spPr/>
    </dgm:pt>
    <dgm:pt modelId="{F0CC3DDE-B4D4-4F64-9C7D-1687C48B733F}" type="pres">
      <dgm:prSet presAssocID="{7ECDDDE8-58E2-4B1F-BAD0-415F90E270D6}" presName="dstNode" presStyleLbl="node1" presStyleIdx="0" presStyleCnt="6"/>
      <dgm:spPr/>
    </dgm:pt>
    <dgm:pt modelId="{15DBA544-A56D-4553-98E9-E705B82A67DA}" type="pres">
      <dgm:prSet presAssocID="{E5EBCF3E-0912-4042-8AA3-D30D77394E21}" presName="text_1" presStyleLbl="node1" presStyleIdx="0" presStyleCnt="6">
        <dgm:presLayoutVars>
          <dgm:bulletEnabled val="1"/>
        </dgm:presLayoutVars>
      </dgm:prSet>
      <dgm:spPr/>
    </dgm:pt>
    <dgm:pt modelId="{E10CE4A5-1250-46CD-ABF9-7F59A5CF7971}" type="pres">
      <dgm:prSet presAssocID="{E5EBCF3E-0912-4042-8AA3-D30D77394E21}" presName="accent_1" presStyleCnt="0"/>
      <dgm:spPr/>
    </dgm:pt>
    <dgm:pt modelId="{07380FE9-E340-40EA-9D79-AC6207D07EB1}" type="pres">
      <dgm:prSet presAssocID="{E5EBCF3E-0912-4042-8AA3-D30D77394E21}" presName="accentRepeatNode" presStyleLbl="solidFgAcc1" presStyleIdx="0" presStyleCnt="6"/>
      <dgm:spPr/>
    </dgm:pt>
    <dgm:pt modelId="{871773DB-4244-4083-883E-FBC565A3970A}" type="pres">
      <dgm:prSet presAssocID="{D06EAEE4-8A05-4FFA-BD84-95D2B34E98C5}" presName="text_2" presStyleLbl="node1" presStyleIdx="1" presStyleCnt="6">
        <dgm:presLayoutVars>
          <dgm:bulletEnabled val="1"/>
        </dgm:presLayoutVars>
      </dgm:prSet>
      <dgm:spPr/>
    </dgm:pt>
    <dgm:pt modelId="{C7112FF5-6A4A-4824-98DE-88C6696BD1F2}" type="pres">
      <dgm:prSet presAssocID="{D06EAEE4-8A05-4FFA-BD84-95D2B34E98C5}" presName="accent_2" presStyleCnt="0"/>
      <dgm:spPr/>
    </dgm:pt>
    <dgm:pt modelId="{117E7C2E-96A7-4EE6-AC25-99A99873CEDD}" type="pres">
      <dgm:prSet presAssocID="{D06EAEE4-8A05-4FFA-BD84-95D2B34E98C5}" presName="accentRepeatNode" presStyleLbl="solidFgAcc1" presStyleIdx="1" presStyleCnt="6"/>
      <dgm:spPr/>
    </dgm:pt>
    <dgm:pt modelId="{EFC9FD66-8C2C-43F0-AEFE-917D709F2C4F}" type="pres">
      <dgm:prSet presAssocID="{0A504E0B-067E-48D1-BF3A-58831F0464E2}" presName="text_3" presStyleLbl="node1" presStyleIdx="2" presStyleCnt="6">
        <dgm:presLayoutVars>
          <dgm:bulletEnabled val="1"/>
        </dgm:presLayoutVars>
      </dgm:prSet>
      <dgm:spPr/>
    </dgm:pt>
    <dgm:pt modelId="{E4A05CD4-AAA5-46BD-8E98-F113A7A36726}" type="pres">
      <dgm:prSet presAssocID="{0A504E0B-067E-48D1-BF3A-58831F0464E2}" presName="accent_3" presStyleCnt="0"/>
      <dgm:spPr/>
    </dgm:pt>
    <dgm:pt modelId="{090E5B27-F7B4-4917-AC74-544CB07E571E}" type="pres">
      <dgm:prSet presAssocID="{0A504E0B-067E-48D1-BF3A-58831F0464E2}" presName="accentRepeatNode" presStyleLbl="solidFgAcc1" presStyleIdx="2" presStyleCnt="6"/>
      <dgm:spPr/>
    </dgm:pt>
    <dgm:pt modelId="{6FEA5A4D-BD3D-4299-A027-85ADBAFFDD9C}" type="pres">
      <dgm:prSet presAssocID="{31BE7CBC-152C-486C-A086-58B952440972}" presName="text_4" presStyleLbl="node1" presStyleIdx="3" presStyleCnt="6">
        <dgm:presLayoutVars>
          <dgm:bulletEnabled val="1"/>
        </dgm:presLayoutVars>
      </dgm:prSet>
      <dgm:spPr/>
    </dgm:pt>
    <dgm:pt modelId="{D0E20C29-A00F-44DE-BB1A-DFFD1CA3A0D6}" type="pres">
      <dgm:prSet presAssocID="{31BE7CBC-152C-486C-A086-58B952440972}" presName="accent_4" presStyleCnt="0"/>
      <dgm:spPr/>
    </dgm:pt>
    <dgm:pt modelId="{2F5E282D-84BB-4226-A10D-0637D01B2AC9}" type="pres">
      <dgm:prSet presAssocID="{31BE7CBC-152C-486C-A086-58B952440972}" presName="accentRepeatNode" presStyleLbl="solidFgAcc1" presStyleIdx="3" presStyleCnt="6"/>
      <dgm:spPr/>
    </dgm:pt>
    <dgm:pt modelId="{B1081AEE-C382-44E5-8FA3-5A17000980F6}" type="pres">
      <dgm:prSet presAssocID="{72E5E1F6-1E28-41FA-B24D-AA14AAF1AD26}" presName="text_5" presStyleLbl="node1" presStyleIdx="4" presStyleCnt="6">
        <dgm:presLayoutVars>
          <dgm:bulletEnabled val="1"/>
        </dgm:presLayoutVars>
      </dgm:prSet>
      <dgm:spPr/>
    </dgm:pt>
    <dgm:pt modelId="{DB608491-D268-4714-9B5A-6A502C60A2CB}" type="pres">
      <dgm:prSet presAssocID="{72E5E1F6-1E28-41FA-B24D-AA14AAF1AD26}" presName="accent_5" presStyleCnt="0"/>
      <dgm:spPr/>
    </dgm:pt>
    <dgm:pt modelId="{A4AE7331-547D-4511-AA9E-5EA17D78EB0E}" type="pres">
      <dgm:prSet presAssocID="{72E5E1F6-1E28-41FA-B24D-AA14AAF1AD26}" presName="accentRepeatNode" presStyleLbl="solidFgAcc1" presStyleIdx="4" presStyleCnt="6"/>
      <dgm:spPr/>
    </dgm:pt>
    <dgm:pt modelId="{F2813EC5-A141-411B-A3EF-5124E2CB6968}" type="pres">
      <dgm:prSet presAssocID="{31E73898-FA10-4C22-91B6-8F118E664948}" presName="text_6" presStyleLbl="node1" presStyleIdx="5" presStyleCnt="6" custLinFactNeighborX="-520" custLinFactNeighborY="8379">
        <dgm:presLayoutVars>
          <dgm:bulletEnabled val="1"/>
        </dgm:presLayoutVars>
      </dgm:prSet>
      <dgm:spPr/>
    </dgm:pt>
    <dgm:pt modelId="{44BAD00B-6738-4C44-9816-4F1F8A1762E7}" type="pres">
      <dgm:prSet presAssocID="{31E73898-FA10-4C22-91B6-8F118E664948}" presName="accent_6" presStyleCnt="0"/>
      <dgm:spPr/>
    </dgm:pt>
    <dgm:pt modelId="{26FD7C9E-2F92-461F-B730-D9ED04E42916}" type="pres">
      <dgm:prSet presAssocID="{31E73898-FA10-4C22-91B6-8F118E664948}" presName="accentRepeatNode" presStyleLbl="solidFgAcc1" presStyleIdx="5" presStyleCnt="6" custScaleX="69954" custScaleY="68500"/>
      <dgm:spPr/>
    </dgm:pt>
  </dgm:ptLst>
  <dgm:cxnLst>
    <dgm:cxn modelId="{EB4F2E15-FEFA-4B68-BA1D-002E921B9337}" srcId="{7ECDDDE8-58E2-4B1F-BAD0-415F90E270D6}" destId="{31BE7CBC-152C-486C-A086-58B952440972}" srcOrd="3" destOrd="0" parTransId="{D549E3C0-A2E8-4CB9-ADE1-55CAE7BFC63C}" sibTransId="{8D647250-0B97-4439-AEDA-1B38120A12BE}"/>
    <dgm:cxn modelId="{E8D78918-858B-44E6-A34E-E8774E81B034}" type="presOf" srcId="{0A504E0B-067E-48D1-BF3A-58831F0464E2}" destId="{EFC9FD66-8C2C-43F0-AEFE-917D709F2C4F}" srcOrd="0" destOrd="0" presId="urn:microsoft.com/office/officeart/2008/layout/VerticalCurvedList"/>
    <dgm:cxn modelId="{7B505E20-13C1-403A-905A-AE2366F7FCFA}" type="presOf" srcId="{31E73898-FA10-4C22-91B6-8F118E664948}" destId="{F2813EC5-A141-411B-A3EF-5124E2CB6968}" srcOrd="0" destOrd="0" presId="urn:microsoft.com/office/officeart/2008/layout/VerticalCurvedList"/>
    <dgm:cxn modelId="{3E816726-B537-4ADE-807B-A467E92108DF}" srcId="{7ECDDDE8-58E2-4B1F-BAD0-415F90E270D6}" destId="{D06EAEE4-8A05-4FFA-BD84-95D2B34E98C5}" srcOrd="1" destOrd="0" parTransId="{BD2C09CD-71C2-4776-82BC-829A21E32236}" sibTransId="{F252EB56-B020-4987-8792-4A29E6B8CF08}"/>
    <dgm:cxn modelId="{9DB63942-F200-4D73-8DC2-C3E8DC86332D}" type="presOf" srcId="{E5EBCF3E-0912-4042-8AA3-D30D77394E21}" destId="{15DBA544-A56D-4553-98E9-E705B82A67DA}" srcOrd="0" destOrd="0" presId="urn:microsoft.com/office/officeart/2008/layout/VerticalCurvedList"/>
    <dgm:cxn modelId="{318A7164-14D7-4AE7-8F4F-187E226CF810}" srcId="{7ECDDDE8-58E2-4B1F-BAD0-415F90E270D6}" destId="{0A504E0B-067E-48D1-BF3A-58831F0464E2}" srcOrd="2" destOrd="0" parTransId="{8A15B63A-4A70-4E8E-8B63-A2B5BDE6B63D}" sibTransId="{2EA0203C-AA48-4D3A-80AE-A5949883748E}"/>
    <dgm:cxn modelId="{74EFAF65-FA67-4982-AC03-AADA4B0843AD}" type="presOf" srcId="{72E5E1F6-1E28-41FA-B24D-AA14AAF1AD26}" destId="{B1081AEE-C382-44E5-8FA3-5A17000980F6}" srcOrd="0" destOrd="0" presId="urn:microsoft.com/office/officeart/2008/layout/VerticalCurvedList"/>
    <dgm:cxn modelId="{3F75F969-714B-46BD-8A17-EB641D949074}" type="presOf" srcId="{D06EAEE4-8A05-4FFA-BD84-95D2B34E98C5}" destId="{871773DB-4244-4083-883E-FBC565A3970A}" srcOrd="0" destOrd="0" presId="urn:microsoft.com/office/officeart/2008/layout/VerticalCurvedList"/>
    <dgm:cxn modelId="{68B83653-6535-4EB9-9AB8-F267722F4484}" srcId="{7ECDDDE8-58E2-4B1F-BAD0-415F90E270D6}" destId="{31E73898-FA10-4C22-91B6-8F118E664948}" srcOrd="5" destOrd="0" parTransId="{EF8165E0-64A3-4604-B553-75DE020CBCA8}" sibTransId="{6EFC20B3-4365-45BD-9FF4-C4FCB2E29AB5}"/>
    <dgm:cxn modelId="{3996B858-11C7-4B1B-8AD3-9264E3CA99D3}" type="presOf" srcId="{C7563C97-48A5-44A4-B833-DD88B569E802}" destId="{449825BB-1B6B-45E9-AF84-6CC17B05AF88}" srcOrd="0" destOrd="0" presId="urn:microsoft.com/office/officeart/2008/layout/VerticalCurvedList"/>
    <dgm:cxn modelId="{A2D23D7A-7EA5-414B-B164-06F45CC6CDAB}" type="presOf" srcId="{7ECDDDE8-58E2-4B1F-BAD0-415F90E270D6}" destId="{04AA07EE-79F9-49C9-8B9F-3D3D37854431}" srcOrd="0" destOrd="0" presId="urn:microsoft.com/office/officeart/2008/layout/VerticalCurvedList"/>
    <dgm:cxn modelId="{18C359A1-451D-43A7-A306-EDE124375383}" type="presOf" srcId="{31BE7CBC-152C-486C-A086-58B952440972}" destId="{6FEA5A4D-BD3D-4299-A027-85ADBAFFDD9C}" srcOrd="0" destOrd="0" presId="urn:microsoft.com/office/officeart/2008/layout/VerticalCurvedList"/>
    <dgm:cxn modelId="{7E58ABD3-AC68-4525-8F5A-33215D5E47DB}" srcId="{7ECDDDE8-58E2-4B1F-BAD0-415F90E270D6}" destId="{E5EBCF3E-0912-4042-8AA3-D30D77394E21}" srcOrd="0" destOrd="0" parTransId="{01EC045D-4C35-4CA3-B38F-9A8B0E9AE0F7}" sibTransId="{C7563C97-48A5-44A4-B833-DD88B569E802}"/>
    <dgm:cxn modelId="{085265D5-B4B5-4E18-B151-9D42DFBA476B}" srcId="{7ECDDDE8-58E2-4B1F-BAD0-415F90E270D6}" destId="{72E5E1F6-1E28-41FA-B24D-AA14AAF1AD26}" srcOrd="4" destOrd="0" parTransId="{8F82E08C-6B4D-4F02-B125-AE70851ADF3F}" sibTransId="{E6FECA91-47BF-4CFA-94DD-B34C689F577F}"/>
    <dgm:cxn modelId="{9BA28649-5883-4EAF-854A-2603F2C8C0CA}" type="presParOf" srcId="{04AA07EE-79F9-49C9-8B9F-3D3D37854431}" destId="{39F2E090-ABFB-489E-A151-8420162FB88E}" srcOrd="0" destOrd="0" presId="urn:microsoft.com/office/officeart/2008/layout/VerticalCurvedList"/>
    <dgm:cxn modelId="{755A4097-4378-451E-8AB4-34D2A958DE4A}" type="presParOf" srcId="{39F2E090-ABFB-489E-A151-8420162FB88E}" destId="{0EE44FB4-CD30-4CE7-895C-76A3ACA70178}" srcOrd="0" destOrd="0" presId="urn:microsoft.com/office/officeart/2008/layout/VerticalCurvedList"/>
    <dgm:cxn modelId="{A13F145E-F656-47A1-A117-327B6DFE8AD9}" type="presParOf" srcId="{0EE44FB4-CD30-4CE7-895C-76A3ACA70178}" destId="{CC01A666-D9AD-441E-B5CA-788678DE8569}" srcOrd="0" destOrd="0" presId="urn:microsoft.com/office/officeart/2008/layout/VerticalCurvedList"/>
    <dgm:cxn modelId="{D8E3D933-B09E-4C3B-B227-6CC9270CD555}" type="presParOf" srcId="{0EE44FB4-CD30-4CE7-895C-76A3ACA70178}" destId="{449825BB-1B6B-45E9-AF84-6CC17B05AF88}" srcOrd="1" destOrd="0" presId="urn:microsoft.com/office/officeart/2008/layout/VerticalCurvedList"/>
    <dgm:cxn modelId="{B2592041-0D2A-4422-A956-DC1C51636484}" type="presParOf" srcId="{0EE44FB4-CD30-4CE7-895C-76A3ACA70178}" destId="{80853DA6-6DC4-4701-B9E9-007358E13CFE}" srcOrd="2" destOrd="0" presId="urn:microsoft.com/office/officeart/2008/layout/VerticalCurvedList"/>
    <dgm:cxn modelId="{538619B6-B130-4E7B-A1C2-6F6DA977DFBC}" type="presParOf" srcId="{0EE44FB4-CD30-4CE7-895C-76A3ACA70178}" destId="{F0CC3DDE-B4D4-4F64-9C7D-1687C48B733F}" srcOrd="3" destOrd="0" presId="urn:microsoft.com/office/officeart/2008/layout/VerticalCurvedList"/>
    <dgm:cxn modelId="{1FF688B0-9701-4D16-83A2-7A3CF47EEBF8}" type="presParOf" srcId="{39F2E090-ABFB-489E-A151-8420162FB88E}" destId="{15DBA544-A56D-4553-98E9-E705B82A67DA}" srcOrd="1" destOrd="0" presId="urn:microsoft.com/office/officeart/2008/layout/VerticalCurvedList"/>
    <dgm:cxn modelId="{0F914AA3-88C4-4362-9D81-EFF51C055F22}" type="presParOf" srcId="{39F2E090-ABFB-489E-A151-8420162FB88E}" destId="{E10CE4A5-1250-46CD-ABF9-7F59A5CF7971}" srcOrd="2" destOrd="0" presId="urn:microsoft.com/office/officeart/2008/layout/VerticalCurvedList"/>
    <dgm:cxn modelId="{6285C9A1-92C7-4F68-ADB8-822D5AFB0D10}" type="presParOf" srcId="{E10CE4A5-1250-46CD-ABF9-7F59A5CF7971}" destId="{07380FE9-E340-40EA-9D79-AC6207D07EB1}" srcOrd="0" destOrd="0" presId="urn:microsoft.com/office/officeart/2008/layout/VerticalCurvedList"/>
    <dgm:cxn modelId="{DFF87E01-596D-42C3-8333-708071D29DA3}" type="presParOf" srcId="{39F2E090-ABFB-489E-A151-8420162FB88E}" destId="{871773DB-4244-4083-883E-FBC565A3970A}" srcOrd="3" destOrd="0" presId="urn:microsoft.com/office/officeart/2008/layout/VerticalCurvedList"/>
    <dgm:cxn modelId="{1D1779DF-3C1D-4BD5-8787-34DA4A274278}" type="presParOf" srcId="{39F2E090-ABFB-489E-A151-8420162FB88E}" destId="{C7112FF5-6A4A-4824-98DE-88C6696BD1F2}" srcOrd="4" destOrd="0" presId="urn:microsoft.com/office/officeart/2008/layout/VerticalCurvedList"/>
    <dgm:cxn modelId="{A0148EAF-3D66-4020-AB4B-D8414D10BC82}" type="presParOf" srcId="{C7112FF5-6A4A-4824-98DE-88C6696BD1F2}" destId="{117E7C2E-96A7-4EE6-AC25-99A99873CEDD}" srcOrd="0" destOrd="0" presId="urn:microsoft.com/office/officeart/2008/layout/VerticalCurvedList"/>
    <dgm:cxn modelId="{FA879BDF-BB2A-49F0-96F2-9F529D479A9C}" type="presParOf" srcId="{39F2E090-ABFB-489E-A151-8420162FB88E}" destId="{EFC9FD66-8C2C-43F0-AEFE-917D709F2C4F}" srcOrd="5" destOrd="0" presId="urn:microsoft.com/office/officeart/2008/layout/VerticalCurvedList"/>
    <dgm:cxn modelId="{53BB61FC-4A42-48AC-A509-62E5F7858AA2}" type="presParOf" srcId="{39F2E090-ABFB-489E-A151-8420162FB88E}" destId="{E4A05CD4-AAA5-46BD-8E98-F113A7A36726}" srcOrd="6" destOrd="0" presId="urn:microsoft.com/office/officeart/2008/layout/VerticalCurvedList"/>
    <dgm:cxn modelId="{4B334409-7CDE-4A54-B55E-A2B2F5A61FF7}" type="presParOf" srcId="{E4A05CD4-AAA5-46BD-8E98-F113A7A36726}" destId="{090E5B27-F7B4-4917-AC74-544CB07E571E}" srcOrd="0" destOrd="0" presId="urn:microsoft.com/office/officeart/2008/layout/VerticalCurvedList"/>
    <dgm:cxn modelId="{07109D5C-BD7D-4DFA-9D42-BA44737EE79E}" type="presParOf" srcId="{39F2E090-ABFB-489E-A151-8420162FB88E}" destId="{6FEA5A4D-BD3D-4299-A027-85ADBAFFDD9C}" srcOrd="7" destOrd="0" presId="urn:microsoft.com/office/officeart/2008/layout/VerticalCurvedList"/>
    <dgm:cxn modelId="{5DBDC68E-FFC3-4DC8-AEBF-DE6F083D9E36}" type="presParOf" srcId="{39F2E090-ABFB-489E-A151-8420162FB88E}" destId="{D0E20C29-A00F-44DE-BB1A-DFFD1CA3A0D6}" srcOrd="8" destOrd="0" presId="urn:microsoft.com/office/officeart/2008/layout/VerticalCurvedList"/>
    <dgm:cxn modelId="{76F59A53-5818-47A4-925D-E5D1CC5E1AC3}" type="presParOf" srcId="{D0E20C29-A00F-44DE-BB1A-DFFD1CA3A0D6}" destId="{2F5E282D-84BB-4226-A10D-0637D01B2AC9}" srcOrd="0" destOrd="0" presId="urn:microsoft.com/office/officeart/2008/layout/VerticalCurvedList"/>
    <dgm:cxn modelId="{8D72BE11-FC33-4F16-B3F6-1BB52BA036A2}" type="presParOf" srcId="{39F2E090-ABFB-489E-A151-8420162FB88E}" destId="{B1081AEE-C382-44E5-8FA3-5A17000980F6}" srcOrd="9" destOrd="0" presId="urn:microsoft.com/office/officeart/2008/layout/VerticalCurvedList"/>
    <dgm:cxn modelId="{1FB1FA1A-6DD2-4030-AB6B-008D66B2C7C9}" type="presParOf" srcId="{39F2E090-ABFB-489E-A151-8420162FB88E}" destId="{DB608491-D268-4714-9B5A-6A502C60A2CB}" srcOrd="10" destOrd="0" presId="urn:microsoft.com/office/officeart/2008/layout/VerticalCurvedList"/>
    <dgm:cxn modelId="{B7EB9BC9-747A-41B1-A6E2-46176833B135}" type="presParOf" srcId="{DB608491-D268-4714-9B5A-6A502C60A2CB}" destId="{A4AE7331-547D-4511-AA9E-5EA17D78EB0E}" srcOrd="0" destOrd="0" presId="urn:microsoft.com/office/officeart/2008/layout/VerticalCurvedList"/>
    <dgm:cxn modelId="{67CBC8B4-27B2-4A99-ADE7-82ACEE6CCD86}" type="presParOf" srcId="{39F2E090-ABFB-489E-A151-8420162FB88E}" destId="{F2813EC5-A141-411B-A3EF-5124E2CB6968}" srcOrd="11" destOrd="0" presId="urn:microsoft.com/office/officeart/2008/layout/VerticalCurvedList"/>
    <dgm:cxn modelId="{6778C5C6-A84E-4A0D-B0A5-79F036CBC353}" type="presParOf" srcId="{39F2E090-ABFB-489E-A151-8420162FB88E}" destId="{44BAD00B-6738-4C44-9816-4F1F8A1762E7}" srcOrd="12" destOrd="0" presId="urn:microsoft.com/office/officeart/2008/layout/VerticalCurvedList"/>
    <dgm:cxn modelId="{628014B9-B24E-4C6C-B6A1-5D86027F2F98}" type="presParOf" srcId="{44BAD00B-6738-4C44-9816-4F1F8A1762E7}" destId="{26FD7C9E-2F92-461F-B730-D9ED04E42916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9825BB-1B6B-45E9-AF84-6CC17B05AF88}">
      <dsp:nvSpPr>
        <dsp:cNvPr id="0" name=""/>
        <dsp:cNvSpPr/>
      </dsp:nvSpPr>
      <dsp:spPr>
        <a:xfrm>
          <a:off x="-6064674" y="-927938"/>
          <a:ext cx="7219473" cy="7219473"/>
        </a:xfrm>
        <a:prstGeom prst="blockArc">
          <a:avLst>
            <a:gd name="adj1" fmla="val 18900000"/>
            <a:gd name="adj2" fmla="val 2700000"/>
            <a:gd name="adj3" fmla="val 299"/>
          </a:avLst>
        </a:prstGeom>
        <a:noFill/>
        <a:ln w="12700" cap="flat" cmpd="sng" algn="ctr">
          <a:solidFill>
            <a:schemeClr val="accent4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DBA544-A56D-4553-98E9-E705B82A67DA}">
      <dsp:nvSpPr>
        <dsp:cNvPr id="0" name=""/>
        <dsp:cNvSpPr/>
      </dsp:nvSpPr>
      <dsp:spPr>
        <a:xfrm>
          <a:off x="430074" y="282446"/>
          <a:ext cx="7945343" cy="564679"/>
        </a:xfrm>
        <a:prstGeom prst="rect">
          <a:avLst/>
        </a:prstGeom>
        <a:solidFill>
          <a:schemeClr val="accent4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821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>
              <a:solidFill>
                <a:schemeClr val="tx1"/>
              </a:solidFill>
            </a:rPr>
            <a:t>Ser mayor de 18 años de edad.</a:t>
          </a:r>
          <a:endParaRPr lang="es-CL" sz="1800" kern="1200" dirty="0">
            <a:solidFill>
              <a:schemeClr val="tx1"/>
            </a:solidFill>
          </a:endParaRPr>
        </a:p>
      </dsp:txBody>
      <dsp:txXfrm>
        <a:off x="430074" y="282446"/>
        <a:ext cx="7945343" cy="564679"/>
      </dsp:txXfrm>
    </dsp:sp>
    <dsp:sp modelId="{07380FE9-E340-40EA-9D79-AC6207D07EB1}">
      <dsp:nvSpPr>
        <dsp:cNvPr id="0" name=""/>
        <dsp:cNvSpPr/>
      </dsp:nvSpPr>
      <dsp:spPr>
        <a:xfrm>
          <a:off x="77150" y="211862"/>
          <a:ext cx="705849" cy="70584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1773DB-4244-4083-883E-FBC565A3970A}">
      <dsp:nvSpPr>
        <dsp:cNvPr id="0" name=""/>
        <dsp:cNvSpPr/>
      </dsp:nvSpPr>
      <dsp:spPr>
        <a:xfrm>
          <a:off x="894562" y="1129358"/>
          <a:ext cx="7480856" cy="564679"/>
        </a:xfrm>
        <a:prstGeom prst="rect">
          <a:avLst/>
        </a:prstGeom>
        <a:solidFill>
          <a:schemeClr val="accent4">
            <a:alpha val="90000"/>
            <a:hueOff val="0"/>
            <a:satOff val="0"/>
            <a:lumOff val="0"/>
            <a:alphaOff val="-8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821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>
              <a:solidFill>
                <a:schemeClr val="tx1"/>
              </a:solidFill>
            </a:rPr>
            <a:t>Acreditar una vivienda que cuente con permiso de edificación y recepción definitiva hasta el año 2009.</a:t>
          </a:r>
          <a:r>
            <a:rPr lang="es-ES" sz="1500" kern="1200" dirty="0">
              <a:solidFill>
                <a:schemeClr val="tx1"/>
              </a:solidFill>
            </a:rPr>
            <a:t> </a:t>
          </a:r>
          <a:endParaRPr lang="es-CL" sz="1500" kern="1200" dirty="0">
            <a:solidFill>
              <a:schemeClr val="tx1"/>
            </a:solidFill>
          </a:endParaRPr>
        </a:p>
      </dsp:txBody>
      <dsp:txXfrm>
        <a:off x="894562" y="1129358"/>
        <a:ext cx="7480856" cy="564679"/>
      </dsp:txXfrm>
    </dsp:sp>
    <dsp:sp modelId="{117E7C2E-96A7-4EE6-AC25-99A99873CEDD}">
      <dsp:nvSpPr>
        <dsp:cNvPr id="0" name=""/>
        <dsp:cNvSpPr/>
      </dsp:nvSpPr>
      <dsp:spPr>
        <a:xfrm>
          <a:off x="541637" y="1058773"/>
          <a:ext cx="705849" cy="70584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alpha val="90000"/>
              <a:hueOff val="0"/>
              <a:satOff val="0"/>
              <a:lumOff val="0"/>
              <a:alphaOff val="-800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C9FD66-8C2C-43F0-AEFE-917D709F2C4F}">
      <dsp:nvSpPr>
        <dsp:cNvPr id="0" name=""/>
        <dsp:cNvSpPr/>
      </dsp:nvSpPr>
      <dsp:spPr>
        <a:xfrm>
          <a:off x="1106960" y="1976270"/>
          <a:ext cx="7268458" cy="564679"/>
        </a:xfrm>
        <a:prstGeom prst="rect">
          <a:avLst/>
        </a:prstGeom>
        <a:solidFill>
          <a:schemeClr val="accent4">
            <a:alpha val="90000"/>
            <a:hueOff val="0"/>
            <a:satOff val="0"/>
            <a:lumOff val="0"/>
            <a:alphaOff val="-16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821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>
              <a:solidFill>
                <a:schemeClr val="tx1"/>
              </a:solidFill>
            </a:rPr>
            <a:t>Viviendas cuyo avalúo fiscal sea inferior a </a:t>
          </a:r>
          <a:r>
            <a:rPr lang="es-ES" sz="1800" b="1" kern="1200" dirty="0">
              <a:solidFill>
                <a:schemeClr val="tx1"/>
              </a:solidFill>
            </a:rPr>
            <a:t>1.375 UF.</a:t>
          </a:r>
          <a:endParaRPr lang="es-CL" sz="1500" kern="1200" dirty="0">
            <a:solidFill>
              <a:schemeClr val="tx1"/>
            </a:solidFill>
          </a:endParaRPr>
        </a:p>
      </dsp:txBody>
      <dsp:txXfrm>
        <a:off x="1106960" y="1976270"/>
        <a:ext cx="7268458" cy="564679"/>
      </dsp:txXfrm>
    </dsp:sp>
    <dsp:sp modelId="{090E5B27-F7B4-4917-AC74-544CB07E571E}">
      <dsp:nvSpPr>
        <dsp:cNvPr id="0" name=""/>
        <dsp:cNvSpPr/>
      </dsp:nvSpPr>
      <dsp:spPr>
        <a:xfrm>
          <a:off x="754035" y="1905685"/>
          <a:ext cx="705849" cy="70584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alpha val="90000"/>
              <a:hueOff val="0"/>
              <a:satOff val="0"/>
              <a:lumOff val="0"/>
              <a:alphaOff val="-1600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EA5A4D-BD3D-4299-A027-85ADBAFFDD9C}">
      <dsp:nvSpPr>
        <dsp:cNvPr id="0" name=""/>
        <dsp:cNvSpPr/>
      </dsp:nvSpPr>
      <dsp:spPr>
        <a:xfrm>
          <a:off x="1106960" y="2822646"/>
          <a:ext cx="7268458" cy="564679"/>
        </a:xfrm>
        <a:prstGeom prst="rect">
          <a:avLst/>
        </a:prstGeom>
        <a:solidFill>
          <a:schemeClr val="accent4">
            <a:alpha val="90000"/>
            <a:hueOff val="0"/>
            <a:satOff val="0"/>
            <a:lumOff val="0"/>
            <a:alphaOff val="-24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821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>
              <a:solidFill>
                <a:schemeClr val="tx1"/>
              </a:solidFill>
            </a:rPr>
            <a:t>Contar con Registro Social de Hogares con la misma dirección (donde postula y donde reside) hasta el 70%.</a:t>
          </a:r>
          <a:endParaRPr lang="es-CL" sz="1800" kern="1200" dirty="0">
            <a:solidFill>
              <a:schemeClr val="tx1"/>
            </a:solidFill>
          </a:endParaRPr>
        </a:p>
      </dsp:txBody>
      <dsp:txXfrm>
        <a:off x="1106960" y="2822646"/>
        <a:ext cx="7268458" cy="564679"/>
      </dsp:txXfrm>
    </dsp:sp>
    <dsp:sp modelId="{2F5E282D-84BB-4226-A10D-0637D01B2AC9}">
      <dsp:nvSpPr>
        <dsp:cNvPr id="0" name=""/>
        <dsp:cNvSpPr/>
      </dsp:nvSpPr>
      <dsp:spPr>
        <a:xfrm>
          <a:off x="754035" y="2752061"/>
          <a:ext cx="705849" cy="70584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alpha val="90000"/>
              <a:hueOff val="0"/>
              <a:satOff val="0"/>
              <a:lumOff val="0"/>
              <a:alphaOff val="-2400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081AEE-C382-44E5-8FA3-5A17000980F6}">
      <dsp:nvSpPr>
        <dsp:cNvPr id="0" name=""/>
        <dsp:cNvSpPr/>
      </dsp:nvSpPr>
      <dsp:spPr>
        <a:xfrm>
          <a:off x="894562" y="3669557"/>
          <a:ext cx="7480856" cy="564679"/>
        </a:xfrm>
        <a:prstGeom prst="rect">
          <a:avLst/>
        </a:prstGeom>
        <a:solidFill>
          <a:schemeClr val="accent4">
            <a:alpha val="90000"/>
            <a:hueOff val="0"/>
            <a:satOff val="0"/>
            <a:lumOff val="0"/>
            <a:alphaOff val="-32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821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>
              <a:solidFill>
                <a:schemeClr val="tx1"/>
              </a:solidFill>
            </a:rPr>
            <a:t>Tener libreta de ahorro para la vivienda, y contar con ahorro mínimo exigido en el presente llamado.</a:t>
          </a:r>
          <a:endParaRPr lang="es-CL" sz="1800" kern="1200" dirty="0">
            <a:solidFill>
              <a:schemeClr val="tx1"/>
            </a:solidFill>
          </a:endParaRPr>
        </a:p>
      </dsp:txBody>
      <dsp:txXfrm>
        <a:off x="894562" y="3669557"/>
        <a:ext cx="7480856" cy="564679"/>
      </dsp:txXfrm>
    </dsp:sp>
    <dsp:sp modelId="{A4AE7331-547D-4511-AA9E-5EA17D78EB0E}">
      <dsp:nvSpPr>
        <dsp:cNvPr id="0" name=""/>
        <dsp:cNvSpPr/>
      </dsp:nvSpPr>
      <dsp:spPr>
        <a:xfrm>
          <a:off x="541637" y="3598972"/>
          <a:ext cx="705849" cy="70584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alpha val="90000"/>
              <a:hueOff val="0"/>
              <a:satOff val="0"/>
              <a:lumOff val="0"/>
              <a:alphaOff val="-3200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813EC5-A141-411B-A3EF-5124E2CB6968}">
      <dsp:nvSpPr>
        <dsp:cNvPr id="0" name=""/>
        <dsp:cNvSpPr/>
      </dsp:nvSpPr>
      <dsp:spPr>
        <a:xfrm>
          <a:off x="388759" y="4563784"/>
          <a:ext cx="7945343" cy="564679"/>
        </a:xfrm>
        <a:prstGeom prst="rect">
          <a:avLst/>
        </a:prstGeom>
        <a:solidFill>
          <a:schemeClr val="accent4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821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000" kern="1200" dirty="0">
              <a:solidFill>
                <a:schemeClr val="tx1"/>
              </a:solidFill>
            </a:rPr>
            <a:t>Que la Vivienda no exceda los 90m2 (Previa evaluación en visita técnica)</a:t>
          </a:r>
        </a:p>
      </dsp:txBody>
      <dsp:txXfrm>
        <a:off x="388759" y="4563784"/>
        <a:ext cx="7945343" cy="564679"/>
      </dsp:txXfrm>
    </dsp:sp>
    <dsp:sp modelId="{26FD7C9E-2F92-461F-B730-D9ED04E42916}">
      <dsp:nvSpPr>
        <dsp:cNvPr id="0" name=""/>
        <dsp:cNvSpPr/>
      </dsp:nvSpPr>
      <dsp:spPr>
        <a:xfrm>
          <a:off x="183189" y="4557055"/>
          <a:ext cx="493769" cy="48350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alpha val="90000"/>
              <a:hueOff val="0"/>
              <a:satOff val="0"/>
              <a:lumOff val="0"/>
              <a:alphaOff val="-4000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6363" cy="608531"/>
          </a:xfrm>
          <a:prstGeom prst="rect">
            <a:avLst/>
          </a:prstGeom>
        </p:spPr>
        <p:txBody>
          <a:bodyPr vert="horz" lIns="109863" tIns="54932" rIns="109863" bIns="54932" rtlCol="0"/>
          <a:lstStyle>
            <a:lvl1pPr algn="l">
              <a:defRPr sz="15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4021293" y="1"/>
            <a:ext cx="3076363" cy="608531"/>
          </a:xfrm>
          <a:prstGeom prst="rect">
            <a:avLst/>
          </a:prstGeom>
        </p:spPr>
        <p:txBody>
          <a:bodyPr vert="horz" lIns="109863" tIns="54932" rIns="109863" bIns="54932" rtlCol="0"/>
          <a:lstStyle>
            <a:lvl1pPr algn="r">
              <a:defRPr sz="1500"/>
            </a:lvl1pPr>
          </a:lstStyle>
          <a:p>
            <a:fld id="{0E7A1319-70AC-44AD-927D-8AAF6F78BB52}" type="datetimeFigureOut">
              <a:rPr lang="es-ES" smtClean="0"/>
              <a:t>06/10/2026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11519971"/>
            <a:ext cx="3076363" cy="608530"/>
          </a:xfrm>
          <a:prstGeom prst="rect">
            <a:avLst/>
          </a:prstGeom>
        </p:spPr>
        <p:txBody>
          <a:bodyPr vert="horz" lIns="109863" tIns="54932" rIns="109863" bIns="54932" rtlCol="0" anchor="b"/>
          <a:lstStyle>
            <a:lvl1pPr algn="l">
              <a:defRPr sz="15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4021293" y="11519971"/>
            <a:ext cx="3076363" cy="608530"/>
          </a:xfrm>
          <a:prstGeom prst="rect">
            <a:avLst/>
          </a:prstGeom>
        </p:spPr>
        <p:txBody>
          <a:bodyPr vert="horz" lIns="109863" tIns="54932" rIns="109863" bIns="54932" rtlCol="0" anchor="b"/>
          <a:lstStyle>
            <a:lvl1pPr algn="r">
              <a:defRPr sz="1500"/>
            </a:lvl1pPr>
          </a:lstStyle>
          <a:p>
            <a:fld id="{1304CB26-88F5-45E3-BDC9-6BFAEEDEEA3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999257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606425"/>
          </a:xfrm>
          <a:prstGeom prst="rect">
            <a:avLst/>
          </a:prstGeom>
        </p:spPr>
        <p:txBody>
          <a:bodyPr vert="horz" lIns="109863" tIns="54932" rIns="109863" bIns="54932" rtlCol="0"/>
          <a:lstStyle>
            <a:lvl1pPr algn="l">
              <a:defRPr sz="15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4021293" y="0"/>
            <a:ext cx="3076363" cy="606425"/>
          </a:xfrm>
          <a:prstGeom prst="rect">
            <a:avLst/>
          </a:prstGeom>
        </p:spPr>
        <p:txBody>
          <a:bodyPr vert="horz" lIns="109863" tIns="54932" rIns="109863" bIns="54932" rtlCol="0"/>
          <a:lstStyle>
            <a:lvl1pPr algn="r">
              <a:defRPr sz="1500"/>
            </a:lvl1pPr>
          </a:lstStyle>
          <a:p>
            <a:fld id="{3622B61C-ACDD-4292-9727-A4C357D50C13}" type="datetimeFigureOut">
              <a:rPr lang="es-ES" smtClean="0"/>
              <a:t>06/10/2026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517525" y="908050"/>
            <a:ext cx="6064250" cy="45497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09863" tIns="54932" rIns="109863" bIns="54932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709930" y="5761038"/>
            <a:ext cx="5679440" cy="5457825"/>
          </a:xfrm>
          <a:prstGeom prst="rect">
            <a:avLst/>
          </a:prstGeom>
        </p:spPr>
        <p:txBody>
          <a:bodyPr vert="horz" lIns="109863" tIns="54932" rIns="109863" bIns="54932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11519969"/>
            <a:ext cx="3076363" cy="606425"/>
          </a:xfrm>
          <a:prstGeom prst="rect">
            <a:avLst/>
          </a:prstGeom>
        </p:spPr>
        <p:txBody>
          <a:bodyPr vert="horz" lIns="109863" tIns="54932" rIns="109863" bIns="54932" rtlCol="0" anchor="b"/>
          <a:lstStyle>
            <a:lvl1pPr algn="l">
              <a:defRPr sz="15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4021293" y="11519969"/>
            <a:ext cx="3076363" cy="606425"/>
          </a:xfrm>
          <a:prstGeom prst="rect">
            <a:avLst/>
          </a:prstGeom>
        </p:spPr>
        <p:txBody>
          <a:bodyPr vert="horz" lIns="109863" tIns="54932" rIns="109863" bIns="54932" rtlCol="0" anchor="b"/>
          <a:lstStyle>
            <a:lvl1pPr algn="r">
              <a:defRPr sz="1500"/>
            </a:lvl1pPr>
          </a:lstStyle>
          <a:p>
            <a:fld id="{529A3AD2-CF93-4D12-8E4E-E95A9FE8B6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2433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2303-A0C0-43A6-8FF7-3000F07C3DC9}" type="datetimeFigureOut">
              <a:rPr lang="es-ES" smtClean="0"/>
              <a:t>06/10/2026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09637-2D0A-4C62-A84C-F7E5332AE08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2406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2303-A0C0-43A6-8FF7-3000F07C3DC9}" type="datetimeFigureOut">
              <a:rPr lang="es-ES" smtClean="0"/>
              <a:t>06/10/2026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09637-2D0A-4C62-A84C-F7E5332AE08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4972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2303-A0C0-43A6-8FF7-3000F07C3DC9}" type="datetimeFigureOut">
              <a:rPr lang="es-ES" smtClean="0"/>
              <a:t>06/10/2026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09637-2D0A-4C62-A84C-F7E5332AE08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86529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2303-A0C0-43A6-8FF7-3000F07C3DC9}" type="datetimeFigureOut">
              <a:rPr lang="es-ES" smtClean="0"/>
              <a:t>06/10/2026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09637-2D0A-4C62-A84C-F7E5332AE08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6645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2303-A0C0-43A6-8FF7-3000F07C3DC9}" type="datetimeFigureOut">
              <a:rPr lang="es-ES" smtClean="0"/>
              <a:t>06/10/2026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09637-2D0A-4C62-A84C-F7E5332AE08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7583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2303-A0C0-43A6-8FF7-3000F07C3DC9}" type="datetimeFigureOut">
              <a:rPr lang="es-ES" smtClean="0"/>
              <a:t>06/10/2026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09637-2D0A-4C62-A84C-F7E5332AE08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81965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2303-A0C0-43A6-8FF7-3000F07C3DC9}" type="datetimeFigureOut">
              <a:rPr lang="es-ES" smtClean="0"/>
              <a:t>06/10/2026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09637-2D0A-4C62-A84C-F7E5332AE08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32511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2303-A0C0-43A6-8FF7-3000F07C3DC9}" type="datetimeFigureOut">
              <a:rPr lang="es-ES" smtClean="0"/>
              <a:t>06/10/2026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09637-2D0A-4C62-A84C-F7E5332AE08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7776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2303-A0C0-43A6-8FF7-3000F07C3DC9}" type="datetimeFigureOut">
              <a:rPr lang="es-ES" smtClean="0"/>
              <a:t>06/10/2026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09637-2D0A-4C62-A84C-F7E5332AE08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3788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2303-A0C0-43A6-8FF7-3000F07C3DC9}" type="datetimeFigureOut">
              <a:rPr lang="es-ES" smtClean="0"/>
              <a:t>06/10/2026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09637-2D0A-4C62-A84C-F7E5332AE08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8781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2303-A0C0-43A6-8FF7-3000F07C3DC9}" type="datetimeFigureOut">
              <a:rPr lang="es-ES" smtClean="0"/>
              <a:t>06/10/2026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09637-2D0A-4C62-A84C-F7E5332AE08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84341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/>
          </p:nvPr>
        </p:nvSpPr>
        <p:spPr>
          <a:xfrm>
            <a:off x="457200" y="274639"/>
            <a:ext cx="8229600" cy="5851525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6498DB-8986-4FCA-AC34-DC6CE83B331D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5984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D62303-A0C0-43A6-8FF7-3000F07C3DC9}" type="datetimeFigureOut">
              <a:rPr lang="es-ES" smtClean="0"/>
              <a:t>06/10/2026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309637-2D0A-4C62-A84C-F7E5332AE08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72403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mailto:cgarcia@constructorakotai.c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ermopanelesivesco.cl/2009/06/09/dvh/" TargetMode="External"/><Relationship Id="rId2" Type="http://schemas.openxmlformats.org/officeDocument/2006/relationships/hyperlink" Target="http://www.termopanelesivesco.cl/2010/10/12/termopanel/" TargetMode="Externa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13" descr="Complemento-Logo-Gobierno-160x14px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" y="0"/>
            <a:ext cx="2032000" cy="332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ítulo 1"/>
          <p:cNvSpPr txBox="1">
            <a:spLocks/>
          </p:cNvSpPr>
          <p:nvPr/>
        </p:nvSpPr>
        <p:spPr>
          <a:xfrm>
            <a:off x="236292" y="1989770"/>
            <a:ext cx="8825658" cy="33295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L" sz="4000" dirty="0"/>
          </a:p>
        </p:txBody>
      </p:sp>
      <p:sp>
        <p:nvSpPr>
          <p:cNvPr id="7" name="Rectángulo 6"/>
          <p:cNvSpPr/>
          <p:nvPr/>
        </p:nvSpPr>
        <p:spPr>
          <a:xfrm>
            <a:off x="837839" y="1120676"/>
            <a:ext cx="762256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s-CL" sz="3600" b="1" dirty="0"/>
              <a:t>PROGRAMA DE MEJORAMIENTO DE VIVIENDAS Y BARRIOS </a:t>
            </a:r>
          </a:p>
          <a:p>
            <a:pPr lvl="0" algn="ctr"/>
            <a:r>
              <a:rPr lang="es-CL" sz="3600" b="1" dirty="0"/>
              <a:t>D.S N°27 DE 2016.</a:t>
            </a:r>
          </a:p>
          <a:p>
            <a:pPr lvl="0" algn="ctr"/>
            <a:endParaRPr lang="es-CL" sz="3600" b="1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D8D7F71-8207-4143-ABF9-67354BA62B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832" y="3356992"/>
            <a:ext cx="3600400" cy="2537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777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43726" y="188640"/>
            <a:ext cx="8256547" cy="1261569"/>
          </a:xfrm>
          <a:solidFill>
            <a:srgbClr val="D53849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ES_tradnl" sz="3600" b="1" dirty="0">
                <a:solidFill>
                  <a:schemeClr val="bg1"/>
                </a:solidFill>
                <a:latin typeface="Corbel" panose="020B0503020204020204" pitchFamily="34" charset="0"/>
              </a:rPr>
              <a:t>CONSTRUCTORA KOTAI </a:t>
            </a:r>
            <a:r>
              <a:rPr lang="es-ES_tradnl" sz="3600" b="1" dirty="0" err="1">
                <a:solidFill>
                  <a:schemeClr val="bg1"/>
                </a:solidFill>
                <a:latin typeface="Corbel" panose="020B0503020204020204" pitchFamily="34" charset="0"/>
              </a:rPr>
              <a:t>SpA</a:t>
            </a:r>
            <a:endParaRPr lang="es-ES" sz="3600" b="1" dirty="0">
              <a:solidFill>
                <a:schemeClr val="bg1"/>
              </a:solidFill>
              <a:latin typeface="Corbel" panose="020B0503020204020204" pitchFamily="34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77824" y="1628800"/>
            <a:ext cx="5994376" cy="463507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s-ES" sz="2400" b="1" dirty="0"/>
              <a:t>Representante Legal: </a:t>
            </a: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s-ES" sz="2400" dirty="0"/>
              <a:t>Claudio García Pereira.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s-CL" sz="2400" b="1" dirty="0"/>
              <a:t>Ubicación:</a:t>
            </a: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s-CL" sz="2400" dirty="0"/>
              <a:t>José Joaquin Prieto °269, de la Comuna de Chillán.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s-CL" sz="2400" b="1" dirty="0"/>
              <a:t>Correo contacto:</a:t>
            </a: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s-CL" sz="2400" dirty="0">
                <a:hlinkClick r:id="rId2"/>
              </a:rPr>
              <a:t>cgarcia@constructorakotai.cl</a:t>
            </a:r>
            <a:endParaRPr lang="es-CL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s-CL" sz="2400" b="1" dirty="0"/>
              <a:t>Teléfono contacto:</a:t>
            </a: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s-CL" sz="2400" dirty="0"/>
              <a:t>+56 9 3101 8612</a:t>
            </a:r>
            <a:endParaRPr lang="es-ES_tradnl" sz="2400" dirty="0">
              <a:effectLst/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defRPr/>
            </a:pPr>
            <a:endParaRPr lang="es-ES_tradnl" b="1" dirty="0">
              <a:solidFill>
                <a:schemeClr val="accent3">
                  <a:lumMod val="50000"/>
                </a:schemeClr>
              </a:solidFill>
              <a:effectLst/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B8D7987-FE5F-4739-A39F-9EFB4AB71E7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184" y="2492896"/>
            <a:ext cx="2656428" cy="1872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362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F95B9284-A6DA-AF29-9666-1914FF805D09}"/>
              </a:ext>
            </a:extLst>
          </p:cNvPr>
          <p:cNvSpPr txBox="1">
            <a:spLocks/>
          </p:cNvSpPr>
          <p:nvPr/>
        </p:nvSpPr>
        <p:spPr>
          <a:xfrm>
            <a:off x="431540" y="158055"/>
            <a:ext cx="7308812" cy="16655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s-CL" sz="2800" b="1" dirty="0">
                <a:solidFill>
                  <a:srgbClr val="002060"/>
                </a:solidFill>
                <a:latin typeface="+mn-lt"/>
              </a:rPr>
              <a:t>PROGRAMA DE MEJORAMIENTO DE VIVIENDAS Y BARRIOS</a:t>
            </a:r>
          </a:p>
          <a:p>
            <a:pPr>
              <a:lnSpc>
                <a:spcPct val="120000"/>
              </a:lnSpc>
            </a:pPr>
            <a:r>
              <a:rPr lang="es-CL" sz="2800" b="1" dirty="0">
                <a:solidFill>
                  <a:srgbClr val="002060"/>
                </a:solidFill>
                <a:latin typeface="+mn-lt"/>
              </a:rPr>
              <a:t>EFICIENCIA ENERGÉTICA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3413F2D-32A3-4D8E-B12D-57D3D8FD1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540" y="1794908"/>
            <a:ext cx="8388932" cy="4614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99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" panose="020F0502020204030204" pitchFamily="34" charset="0"/>
                <a:ea typeface="ヒラギノ角ゴ Pro W3"/>
                <a:cs typeface="ヒラギノ角ゴ Pro W3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rgbClr val="595959"/>
                </a:solidFill>
                <a:latin typeface="Calibri" panose="020F0502020204030204" pitchFamily="34" charset="0"/>
                <a:ea typeface="ヒラギノ角ゴ Pro W3"/>
                <a:cs typeface="ヒラギノ角ゴ Pro W3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595959"/>
                </a:solidFill>
                <a:latin typeface="Calibri" panose="020F0502020204030204" pitchFamily="34" charset="0"/>
                <a:ea typeface="ヒラギノ角ゴ Pro W3"/>
                <a:cs typeface="ヒラギノ角ゴ Pro W3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rgbClr val="595959"/>
                </a:solidFill>
                <a:latin typeface="Calibri" panose="020F0502020204030204" pitchFamily="34" charset="0"/>
                <a:ea typeface="ヒラギノ角ゴ Pro W3"/>
                <a:cs typeface="ヒラギノ角ゴ Pro W3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400">
                <a:solidFill>
                  <a:srgbClr val="595959"/>
                </a:solidFill>
                <a:latin typeface="Calibri" panose="020F0502020204030204" pitchFamily="34" charset="0"/>
                <a:ea typeface="ヒラギノ角ゴ Pro W3"/>
                <a:cs typeface="ヒラギノ角ゴ Pro W3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rgbClr val="595959"/>
                </a:solidFill>
                <a:latin typeface="Calibri" panose="020F0502020204030204" pitchFamily="34" charset="0"/>
                <a:ea typeface="ヒラギノ角ゴ Pro W3"/>
                <a:cs typeface="ヒラギノ角ゴ Pro W3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rgbClr val="595959"/>
                </a:solidFill>
                <a:latin typeface="Calibri" panose="020F0502020204030204" pitchFamily="34" charset="0"/>
                <a:ea typeface="ヒラギノ角ゴ Pro W3"/>
                <a:cs typeface="ヒラギノ角ゴ Pro W3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rgbClr val="595959"/>
                </a:solidFill>
                <a:latin typeface="Calibri" panose="020F0502020204030204" pitchFamily="34" charset="0"/>
                <a:ea typeface="ヒラギノ角ゴ Pro W3"/>
                <a:cs typeface="ヒラギノ角ゴ Pro W3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rgbClr val="595959"/>
                </a:solidFill>
                <a:latin typeface="Calibri" panose="020F0502020204030204" pitchFamily="34" charset="0"/>
                <a:ea typeface="ヒラギノ角ゴ Pro W3"/>
                <a:cs typeface="ヒラギノ角ゴ Pro W3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MX" sz="2400" b="1" i="0" dirty="0">
                <a:solidFill>
                  <a:srgbClr val="333333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¿En qué consiste el Programa?</a:t>
            </a:r>
          </a:p>
          <a:p>
            <a:pPr algn="just">
              <a:lnSpc>
                <a:spcPct val="150000"/>
              </a:lnSpc>
              <a:buNone/>
            </a:pPr>
            <a:r>
              <a:rPr lang="es-MX" sz="2300" b="0" i="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	El Programa de Eficiencia Energética e Hídrica para la vivienda, busca mejorar la calidad de vida de las familias que habitan en áreas o localidades urbanas de más de 5 mil habitantes.</a:t>
            </a:r>
          </a:p>
          <a:p>
            <a:pPr algn="just">
              <a:lnSpc>
                <a:spcPct val="150000"/>
              </a:lnSpc>
              <a:buNone/>
            </a:pPr>
            <a:r>
              <a:rPr lang="es-MX" sz="2300" b="0" i="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	Este subsidio busca mejorar la envolvente de la vivienda con el fin de reducir su fuga térmica y contribuir a mejorar los servicios básicos de la vivienda por medio del uso eficiente de los recursos naturales disponibles.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F0AA4F0-CC67-4638-9640-5DD1A5D3F36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9398" y="79592"/>
            <a:ext cx="1278599" cy="901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839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9246184"/>
              </p:ext>
            </p:extLst>
          </p:nvPr>
        </p:nvGraphicFramePr>
        <p:xfrm>
          <a:off x="621760" y="1700808"/>
          <a:ext cx="7662812" cy="230695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809639">
                  <a:extLst>
                    <a:ext uri="{9D8B030D-6E8A-4147-A177-3AD203B41FA5}">
                      <a16:colId xmlns:a16="http://schemas.microsoft.com/office/drawing/2014/main" val="2821746451"/>
                    </a:ext>
                  </a:extLst>
                </a:gridCol>
                <a:gridCol w="2853173">
                  <a:extLst>
                    <a:ext uri="{9D8B030D-6E8A-4147-A177-3AD203B41FA5}">
                      <a16:colId xmlns:a16="http://schemas.microsoft.com/office/drawing/2014/main" val="1294262160"/>
                    </a:ext>
                  </a:extLst>
                </a:gridCol>
              </a:tblGrid>
              <a:tr h="404326">
                <a:tc>
                  <a:txBody>
                    <a:bodyPr/>
                    <a:lstStyle/>
                    <a:p>
                      <a:pPr algn="ctr"/>
                      <a:r>
                        <a:rPr lang="es-CL" sz="1800" dirty="0"/>
                        <a:t>Tipología</a:t>
                      </a:r>
                      <a:endParaRPr lang="es-CL" sz="18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800" dirty="0"/>
                        <a:t>Mejoramiento</a:t>
                      </a:r>
                      <a:endParaRPr lang="es-CL" sz="1800" b="1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2336254"/>
                  </a:ext>
                </a:extLst>
              </a:tr>
              <a:tr h="891818">
                <a:tc>
                  <a:txBody>
                    <a:bodyPr/>
                    <a:lstStyle/>
                    <a:p>
                      <a:pPr algn="ctr"/>
                      <a:r>
                        <a:rPr lang="es-CL" sz="1800" kern="1200" dirty="0">
                          <a:solidFill>
                            <a:schemeClr val="dk1"/>
                          </a:solidFill>
                          <a:effectLst/>
                        </a:rPr>
                        <a:t>Familias que se encuentren entre el 40%-60% según Registro Social de Hogares</a:t>
                      </a:r>
                      <a:endParaRPr lang="es-CL" sz="1800" baseline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</a:rPr>
                        <a:t>3 UF 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</a:rPr>
                        <a:t>$120.000 Aprox.</a:t>
                      </a:r>
                      <a:endParaRPr lang="es-CL" sz="1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65151624"/>
                  </a:ext>
                </a:extLst>
              </a:tr>
              <a:tr h="101081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800" kern="1200" dirty="0">
                          <a:solidFill>
                            <a:schemeClr val="dk1"/>
                          </a:solidFill>
                          <a:effectLst/>
                        </a:rPr>
                        <a:t>Familias que se encuentren entre el 70% según Registro Social de Hogares</a:t>
                      </a:r>
                      <a:endParaRPr lang="es-CL" sz="1800" baseline="0" dirty="0"/>
                    </a:p>
                    <a:p>
                      <a:pPr algn="ctr"/>
                      <a:endParaRPr lang="es-CL" sz="1800" baseline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</a:pPr>
                      <a:r>
                        <a:rPr lang="es-CL" sz="1800" b="1" dirty="0">
                          <a:solidFill>
                            <a:schemeClr val="tx1"/>
                          </a:solidFill>
                          <a:effectLst/>
                        </a:rPr>
                        <a:t>5 UF </a:t>
                      </a:r>
                      <a:r>
                        <a:rPr lang="es-CL" sz="1800" b="0" dirty="0">
                          <a:solidFill>
                            <a:schemeClr val="tx1"/>
                          </a:solidFill>
                          <a:effectLst/>
                        </a:rPr>
                        <a:t>$194.000 Aprox.</a:t>
                      </a:r>
                      <a:endParaRPr lang="es-CL" sz="1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79101679"/>
                  </a:ext>
                </a:extLst>
              </a:tr>
            </a:tbl>
          </a:graphicData>
        </a:graphic>
      </p:graphicFrame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00838" y="598901"/>
            <a:ext cx="5904656" cy="957891"/>
          </a:xfrm>
        </p:spPr>
        <p:txBody>
          <a:bodyPr>
            <a:normAutofit/>
          </a:bodyPr>
          <a:lstStyle/>
          <a:p>
            <a:pPr algn="ctr"/>
            <a:r>
              <a:rPr lang="es-MX" sz="3200" b="1" dirty="0">
                <a:solidFill>
                  <a:srgbClr val="002060"/>
                </a:solidFill>
                <a:latin typeface="+mn-lt"/>
              </a:rPr>
              <a:t>AHORRO</a:t>
            </a:r>
            <a:endParaRPr lang="es-CL" sz="3200" b="1" dirty="0">
              <a:solidFill>
                <a:srgbClr val="002060"/>
              </a:solidFill>
              <a:latin typeface="+mn-lt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D80826E-48B2-4762-B65A-D68E217A9C0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328" y="79592"/>
            <a:ext cx="1473669" cy="1038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129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>
            <a:spLocks noGrp="1"/>
          </p:cNvSpPr>
          <p:nvPr>
            <p:ph type="title"/>
          </p:nvPr>
        </p:nvSpPr>
        <p:spPr>
          <a:xfrm>
            <a:off x="441349" y="166657"/>
            <a:ext cx="5277629" cy="864489"/>
          </a:xfrm>
        </p:spPr>
        <p:txBody>
          <a:bodyPr>
            <a:normAutofit fontScale="90000"/>
          </a:bodyPr>
          <a:lstStyle/>
          <a:p>
            <a:pPr algn="ctr"/>
            <a:r>
              <a:rPr lang="es-ES" sz="3600" b="1" dirty="0">
                <a:solidFill>
                  <a:srgbClr val="002060"/>
                </a:solidFill>
                <a:latin typeface="+mn-lt"/>
              </a:rPr>
              <a:t>REQUISITOS PARA POSTULAR</a:t>
            </a:r>
            <a:r>
              <a:rPr lang="es-ES" dirty="0">
                <a:solidFill>
                  <a:srgbClr val="002060"/>
                </a:solidFill>
              </a:rPr>
              <a:t>: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25A1BDF-F28D-4273-952F-408277975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2924846"/>
            <a:ext cx="1008308" cy="1008308"/>
          </a:xfrm>
          <a:prstGeom prst="rect">
            <a:avLst/>
          </a:prstGeom>
        </p:spPr>
      </p:pic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CAD690D5-E95B-404F-8ED5-61F738C5ED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5778522"/>
              </p:ext>
            </p:extLst>
          </p:nvPr>
        </p:nvGraphicFramePr>
        <p:xfrm>
          <a:off x="438854" y="980728"/>
          <a:ext cx="8451131" cy="53635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Imagen 6">
            <a:extLst>
              <a:ext uri="{FF2B5EF4-FFF2-40B4-BE49-F238E27FC236}">
                <a16:creationId xmlns:a16="http://schemas.microsoft.com/office/drawing/2014/main" id="{8FDF49F4-956A-4B8F-BA1E-E1F965759AE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328" y="79592"/>
            <a:ext cx="1473669" cy="1038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188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>
            <a:spLocks noGrp="1"/>
          </p:cNvSpPr>
          <p:nvPr>
            <p:ph type="title"/>
          </p:nvPr>
        </p:nvSpPr>
        <p:spPr>
          <a:xfrm>
            <a:off x="441349" y="166657"/>
            <a:ext cx="6578923" cy="864489"/>
          </a:xfrm>
        </p:spPr>
        <p:txBody>
          <a:bodyPr>
            <a:normAutofit/>
          </a:bodyPr>
          <a:lstStyle/>
          <a:p>
            <a:pPr algn="ctr"/>
            <a:r>
              <a:rPr lang="es-ES" sz="3600" b="1" dirty="0">
                <a:solidFill>
                  <a:srgbClr val="002060"/>
                </a:solidFill>
                <a:latin typeface="+mn-lt"/>
              </a:rPr>
              <a:t>DOCUMENTOS PARA POSTULAR</a:t>
            </a:r>
            <a:r>
              <a:rPr lang="es-ES" dirty="0">
                <a:solidFill>
                  <a:srgbClr val="002060"/>
                </a:solidFill>
              </a:rPr>
              <a:t>: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3926F20-127C-44F3-958F-80F496239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56" y="1344232"/>
            <a:ext cx="8616315" cy="5829184"/>
          </a:xfrm>
        </p:spPr>
        <p:txBody>
          <a:bodyPr>
            <a:normAutofit/>
          </a:bodyPr>
          <a:lstStyle/>
          <a:p>
            <a:pPr marL="342900" lvl="0" indent="-342900" algn="just">
              <a:lnSpc>
                <a:spcPct val="110000"/>
              </a:lnSpc>
              <a:buFont typeface="Wingdings" panose="05000000000000000000" pitchFamily="2" charset="2"/>
              <a:buChar char=""/>
            </a:pPr>
            <a:r>
              <a:rPr lang="es-CL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Fotocopia cédula de Identidad de él o la </a:t>
            </a:r>
            <a:r>
              <a:rPr lang="es-CL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Postulante</a:t>
            </a:r>
            <a:r>
              <a:rPr lang="es-CL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>
              <a:lnSpc>
                <a:spcPct val="110000"/>
              </a:lnSpc>
              <a:buFont typeface="Wingdings" panose="05000000000000000000" pitchFamily="2" charset="2"/>
              <a:buChar char=""/>
            </a:pPr>
            <a:r>
              <a:rPr lang="es-CL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Credencial de Condición de Discapacidad. (según corresponda)</a:t>
            </a:r>
          </a:p>
          <a:p>
            <a:pPr marL="342900" lvl="0" indent="-342900" algn="just">
              <a:lnSpc>
                <a:spcPct val="110000"/>
              </a:lnSpc>
              <a:buFont typeface="Wingdings" panose="05000000000000000000" pitchFamily="2" charset="2"/>
              <a:buChar char=""/>
            </a:pPr>
            <a:r>
              <a:rPr lang="es-CL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Cartola de la cuenta de ahorro para la vivienda del </a:t>
            </a:r>
            <a:r>
              <a:rPr lang="es-CL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Banco Estado</a:t>
            </a:r>
            <a:r>
              <a:rPr lang="es-CL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>
              <a:lnSpc>
                <a:spcPct val="110000"/>
              </a:lnSpc>
              <a:buFont typeface="Wingdings" panose="05000000000000000000" pitchFamily="2" charset="2"/>
              <a:buChar char=""/>
            </a:pPr>
            <a:r>
              <a:rPr lang="es-CL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Certificado de Vivienda Social </a:t>
            </a:r>
            <a:r>
              <a:rPr lang="es-CL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(Dirección de Obras Municipales).</a:t>
            </a:r>
            <a:endParaRPr lang="es-CL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0000"/>
              </a:lnSpc>
              <a:buFont typeface="Wingdings" panose="05000000000000000000" pitchFamily="2" charset="2"/>
              <a:buChar char=""/>
            </a:pPr>
            <a:r>
              <a:rPr lang="es-CL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Certificado de Avalúo Fiscal Detallado </a:t>
            </a:r>
            <a:r>
              <a:rPr lang="es-CL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(SII con clave única o en Dirección de Obras Municipales).</a:t>
            </a:r>
            <a:endParaRPr lang="es-CL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0000"/>
              </a:lnSpc>
              <a:buFont typeface="Wingdings" panose="05000000000000000000" pitchFamily="2" charset="2"/>
              <a:buChar char=""/>
            </a:pPr>
            <a:r>
              <a:rPr lang="es-CL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Cartola Registro Social de Hogares </a:t>
            </a:r>
            <a:r>
              <a:rPr lang="es-CL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(Por internet con clave única o DIDECO)</a:t>
            </a:r>
            <a:endParaRPr lang="es-CL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0000"/>
              </a:lnSpc>
              <a:spcAft>
                <a:spcPts val="1200"/>
              </a:spcAft>
              <a:buFont typeface="Wingdings" panose="05000000000000000000" pitchFamily="2" charset="2"/>
              <a:buChar char=""/>
            </a:pPr>
            <a:r>
              <a:rPr lang="es-CL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Fotocopia de la Escritura de la Vivienda completa</a:t>
            </a:r>
            <a:r>
              <a:rPr lang="es-CL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 terreno según corresponda (idealmente la copia de inscripción del conservador de bienes raíces)</a:t>
            </a:r>
            <a:endParaRPr lang="es-CL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9B614BF-EE20-4E89-ACC2-24FE0B28D2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328" y="79592"/>
            <a:ext cx="1473669" cy="1038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607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>
            <a:spLocks noGrp="1"/>
          </p:cNvSpPr>
          <p:nvPr>
            <p:ph type="title"/>
          </p:nvPr>
        </p:nvSpPr>
        <p:spPr>
          <a:xfrm>
            <a:off x="330721" y="128347"/>
            <a:ext cx="7082979" cy="1174111"/>
          </a:xfrm>
        </p:spPr>
        <p:txBody>
          <a:bodyPr>
            <a:normAutofit fontScale="90000"/>
          </a:bodyPr>
          <a:lstStyle/>
          <a:p>
            <a:pPr algn="ctr"/>
            <a:r>
              <a:rPr lang="es-ES" sz="3600" b="1" dirty="0">
                <a:solidFill>
                  <a:srgbClr val="002060"/>
                </a:solidFill>
                <a:latin typeface="+mn-lt"/>
              </a:rPr>
              <a:t>Las familias interesadas pueden acceder</a:t>
            </a:r>
            <a:r>
              <a:rPr lang="es-ES" dirty="0">
                <a:solidFill>
                  <a:srgbClr val="002060"/>
                </a:solidFill>
              </a:rPr>
              <a:t>: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3926F20-127C-44F3-958F-80F496239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721" y="1268760"/>
            <a:ext cx="8129711" cy="5184576"/>
          </a:xfrm>
        </p:spPr>
        <p:txBody>
          <a:bodyPr>
            <a:normAutofit/>
          </a:bodyPr>
          <a:lstStyle/>
          <a:p>
            <a:pPr marL="342900" lvl="0" indent="-342900" algn="just">
              <a:lnSpc>
                <a:spcPct val="115000"/>
              </a:lnSpc>
              <a:buFont typeface="Wingdings" panose="05000000000000000000" pitchFamily="2" charset="2"/>
              <a:buChar char=""/>
            </a:pPr>
            <a:r>
              <a:rPr lang="es-C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Regularización Parcial (sin costo adicional).</a:t>
            </a:r>
          </a:p>
          <a:p>
            <a:pPr marL="342900" lvl="0" indent="-342900" algn="just">
              <a:lnSpc>
                <a:spcPct val="115000"/>
              </a:lnSpc>
              <a:buFont typeface="Wingdings" panose="05000000000000000000" pitchFamily="2" charset="2"/>
              <a:buChar char=""/>
            </a:pPr>
            <a:r>
              <a:rPr lang="es-C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Cambio de Revestimiento Exterior e incorporación de aislación térmica.</a:t>
            </a:r>
          </a:p>
          <a:p>
            <a:pPr marL="342900" lvl="0" indent="-342900" algn="just">
              <a:lnSpc>
                <a:spcPct val="115000"/>
              </a:lnSpc>
              <a:buFont typeface="Wingdings" panose="05000000000000000000" pitchFamily="2" charset="2"/>
              <a:buChar char=""/>
            </a:pPr>
            <a:r>
              <a:rPr lang="es-C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Cambio de Puertas Exteriores.</a:t>
            </a:r>
          </a:p>
          <a:p>
            <a:pPr marL="342900" lvl="0" indent="-342900" algn="just">
              <a:lnSpc>
                <a:spcPct val="115000"/>
              </a:lnSpc>
              <a:buFont typeface="Wingdings" panose="05000000000000000000" pitchFamily="2" charset="2"/>
              <a:buChar char=""/>
            </a:pPr>
            <a:r>
              <a:rPr lang="es-C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Cambio de todas las Ventanas, por Ventanas Termo Panel.</a:t>
            </a:r>
          </a:p>
          <a:p>
            <a:pPr marL="342900" lvl="0" indent="-342900" algn="just">
              <a:lnSpc>
                <a:spcPct val="115000"/>
              </a:lnSpc>
              <a:buFont typeface="Wingdings" panose="05000000000000000000" pitchFamily="2" charset="2"/>
              <a:buChar char=""/>
            </a:pPr>
            <a:r>
              <a:rPr lang="es-C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Instalación de Extractores de aire en baño y Cocina.</a:t>
            </a:r>
          </a:p>
          <a:p>
            <a:pPr marL="342900" lvl="0" indent="-342900" algn="just">
              <a:lnSpc>
                <a:spcPct val="115000"/>
              </a:lnSpc>
              <a:buFont typeface="Wingdings" panose="05000000000000000000" pitchFamily="2" charset="2"/>
              <a:buChar char=""/>
            </a:pPr>
            <a:r>
              <a:rPr lang="es-C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Instalación de aireadores en Living, Comedor, y Dormitorios.</a:t>
            </a:r>
          </a:p>
          <a:p>
            <a:pPr marL="342900" lvl="0" indent="-342900" algn="just">
              <a:lnSpc>
                <a:spcPct val="115000"/>
              </a:lnSpc>
              <a:buFont typeface="Wingdings" panose="05000000000000000000" pitchFamily="2" charset="2"/>
              <a:buChar char=""/>
            </a:pPr>
            <a:r>
              <a:rPr lang="es-C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Cambio de piso si lo amerita (para viviendas con piso ventilado).</a:t>
            </a:r>
          </a:p>
          <a:p>
            <a:pPr marL="342900" lvl="0" indent="-342900" algn="just">
              <a:lnSpc>
                <a:spcPct val="115000"/>
              </a:lnSpc>
              <a:buFont typeface="Wingdings" panose="05000000000000000000" pitchFamily="2" charset="2"/>
              <a:buChar char=""/>
            </a:pPr>
            <a:r>
              <a:rPr lang="es-C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Cambio de cubierta (si se encuentra en malas condiciones).</a:t>
            </a:r>
          </a:p>
          <a:p>
            <a:pPr lvl="0"/>
            <a:r>
              <a:rPr lang="es-CL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 vivienda debe contar con Recepción hasta el año 2009, la cual no debe exceder los 90m2 </a:t>
            </a:r>
            <a:r>
              <a:rPr lang="es-C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(Previa revisión de visita técnica).</a:t>
            </a:r>
            <a:endParaRPr lang="es-CL" sz="20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3482981-A986-43DE-9903-CBFF8910C4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328" y="79592"/>
            <a:ext cx="1473669" cy="1038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102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3264" y="2276872"/>
            <a:ext cx="7077472" cy="1160378"/>
          </a:xfrm>
        </p:spPr>
        <p:txBody>
          <a:bodyPr>
            <a:noAutofit/>
          </a:bodyPr>
          <a:lstStyle/>
          <a:p>
            <a:pPr algn="ctr">
              <a:lnSpc>
                <a:spcPct val="200000"/>
              </a:lnSpc>
            </a:pPr>
            <a:r>
              <a:rPr lang="es-CL" sz="3600" b="1" dirty="0">
                <a:solidFill>
                  <a:srgbClr val="002060"/>
                </a:solidFill>
                <a:latin typeface="+mn-lt"/>
              </a:rPr>
              <a:t>A CONTINUACIÓN </a:t>
            </a:r>
            <a:br>
              <a:rPr lang="es-CL" sz="3600" b="1" dirty="0">
                <a:solidFill>
                  <a:srgbClr val="002060"/>
                </a:solidFill>
                <a:latin typeface="+mn-lt"/>
              </a:rPr>
            </a:br>
            <a:r>
              <a:rPr lang="es-CL" sz="3600" b="1" dirty="0">
                <a:solidFill>
                  <a:srgbClr val="002060"/>
                </a:solidFill>
                <a:latin typeface="+mn-lt"/>
              </a:rPr>
              <a:t>FOTOGRAFÍAS DE PROYECTOS EJECUTADOS Y SOLUCIÓN CONSTRUCTIVA…</a:t>
            </a:r>
            <a:endParaRPr lang="en-US" sz="3100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Flecha: a la derecha 2">
            <a:extLst>
              <a:ext uri="{FF2B5EF4-FFF2-40B4-BE49-F238E27FC236}">
                <a16:creationId xmlns:a16="http://schemas.microsoft.com/office/drawing/2014/main" id="{8273D79A-5533-4671-8FF2-9707441C2FCF}"/>
              </a:ext>
            </a:extLst>
          </p:cNvPr>
          <p:cNvSpPr/>
          <p:nvPr/>
        </p:nvSpPr>
        <p:spPr>
          <a:xfrm>
            <a:off x="6194226" y="5364088"/>
            <a:ext cx="2286427" cy="936104"/>
          </a:xfrm>
          <a:prstGeom prst="rightArrow">
            <a:avLst/>
          </a:prstGeom>
          <a:solidFill>
            <a:srgbClr val="D5384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404548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CuadroTexto"/>
          <p:cNvSpPr txBox="1"/>
          <p:nvPr/>
        </p:nvSpPr>
        <p:spPr>
          <a:xfrm>
            <a:off x="321013" y="105023"/>
            <a:ext cx="751767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sz="2600" b="1" dirty="0">
                <a:solidFill>
                  <a:srgbClr val="002060"/>
                </a:solidFill>
              </a:rPr>
              <a:t>MEJORAMIENTO TÉRMICO / </a:t>
            </a:r>
            <a:r>
              <a:rPr lang="es-CL" sz="2600" b="1" dirty="0"/>
              <a:t>CAMBIO TECHUMBRE</a:t>
            </a:r>
          </a:p>
        </p:txBody>
      </p:sp>
      <p:pic>
        <p:nvPicPr>
          <p:cNvPr id="7" name="6 Imagen" descr="C:\Users\asd\Desktop\RANQUIL\GRUPO 2\A. FOTOGRAFICO II\4.AVENDAÑO MARIA\IMG_20181114_133433.jpg"/>
          <p:cNvPicPr/>
          <p:nvPr/>
        </p:nvPicPr>
        <p:blipFill>
          <a:blip r:embed="rId2" cstate="print"/>
          <a:srcRect t="23919" r="1989" b="28906"/>
          <a:stretch>
            <a:fillRect/>
          </a:stretch>
        </p:blipFill>
        <p:spPr bwMode="auto">
          <a:xfrm>
            <a:off x="321013" y="784255"/>
            <a:ext cx="4049892" cy="264474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7 Imagen" descr="C:\Users\asd\Desktop\GENOVEVA ALARCON\Presupuestos Compensados termico villa Madera\COSAS ESCRITORIO\revisar\COBRO 1\MIGUEL VASQUEZ REYES\8d69d822-0906-4d05-880a-35e52ec805c3.jpg"/>
          <p:cNvPicPr/>
          <p:nvPr/>
        </p:nvPicPr>
        <p:blipFill>
          <a:blip r:embed="rId3" cstate="print"/>
          <a:srcRect t="25445" b="23852"/>
          <a:stretch>
            <a:fillRect/>
          </a:stretch>
        </p:blipFill>
        <p:spPr bwMode="auto">
          <a:xfrm>
            <a:off x="4572000" y="1427797"/>
            <a:ext cx="4176464" cy="416144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8 Imagen" descr="C:\Users\asd\Desktop\GENOVEVA ALARCON\Presupuestos Compensados termico villa Madera\COSAS ESCRITORIO\revisar\COBRO 1\MIGUEL VASQUEZ REYES\12cbcf0a-3286-4e3c-9e15-55b51cbd9ceb.jpg"/>
          <p:cNvPicPr/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rcRect t="20738"/>
          <a:stretch>
            <a:fillRect/>
          </a:stretch>
        </p:blipFill>
        <p:spPr bwMode="auto">
          <a:xfrm>
            <a:off x="321013" y="3645024"/>
            <a:ext cx="4049892" cy="255897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17291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0BFC4E47-DE8A-45D9-8D4F-082A8EF2A50D}"/>
              </a:ext>
            </a:extLst>
          </p:cNvPr>
          <p:cNvSpPr txBox="1"/>
          <p:nvPr/>
        </p:nvSpPr>
        <p:spPr>
          <a:xfrm>
            <a:off x="251520" y="1123841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/>
              <a:t>ANTES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6AFD9DE-0751-4E4D-B59C-680A32D249A6}"/>
              </a:ext>
            </a:extLst>
          </p:cNvPr>
          <p:cNvSpPr txBox="1"/>
          <p:nvPr/>
        </p:nvSpPr>
        <p:spPr>
          <a:xfrm>
            <a:off x="5004048" y="2420888"/>
            <a:ext cx="1138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/>
              <a:t>DESPUÉS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1356D53-273E-463E-AE24-9CBEC1387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18" y="1422456"/>
            <a:ext cx="4871929" cy="3118823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233BC10-A48C-46E7-9245-CB33F7400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024" y="2981868"/>
            <a:ext cx="4477842" cy="3876132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C2F87B44-957E-41D5-B84F-6F0F663277DE}"/>
              </a:ext>
            </a:extLst>
          </p:cNvPr>
          <p:cNvSpPr txBox="1"/>
          <p:nvPr/>
        </p:nvSpPr>
        <p:spPr>
          <a:xfrm>
            <a:off x="282280" y="138956"/>
            <a:ext cx="8316924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CAMBIO DE REVESTIMIENTO EXTERIOR E INCORPORACIÓN DE AISLACIÓN TÉRMICA</a:t>
            </a:r>
            <a:r>
              <a:rPr lang="es-CL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algn="ctr"/>
            <a:r>
              <a:rPr lang="es-ES" sz="2000" dirty="0"/>
              <a:t> </a:t>
            </a:r>
            <a:endParaRPr lang="es-CL" sz="2000" dirty="0"/>
          </a:p>
        </p:txBody>
      </p:sp>
    </p:spTree>
    <p:extLst>
      <p:ext uri="{BB962C8B-B14F-4D97-AF65-F5344CB8AC3E}">
        <p14:creationId xmlns:p14="http://schemas.microsoft.com/office/powerpoint/2010/main" val="4172775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/>
          <p:cNvSpPr txBox="1">
            <a:spLocks/>
          </p:cNvSpPr>
          <p:nvPr/>
        </p:nvSpPr>
        <p:spPr>
          <a:xfrm>
            <a:off x="179512" y="303419"/>
            <a:ext cx="8136904" cy="457818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2667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 cap="none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marL="68580" algn="ctr" defTabSz="685800">
              <a:lnSpc>
                <a:spcPct val="100000"/>
              </a:lnSpc>
              <a:spcBef>
                <a:spcPts val="210"/>
              </a:spcBef>
              <a:defRPr/>
            </a:pPr>
            <a:r>
              <a:rPr lang="en-US" sz="2800" dirty="0">
                <a:solidFill>
                  <a:srgbClr val="002060"/>
                </a:solidFill>
                <a:latin typeface="+mn-lt"/>
                <a:cs typeface="Sitka Small"/>
              </a:rPr>
              <a:t>MATERIALIDAD UTILIZADA EN LA AISLACIÓN TÉRMICA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42E9151-B988-4D99-BC32-A3C9343A0D05}"/>
              </a:ext>
            </a:extLst>
          </p:cNvPr>
          <p:cNvSpPr txBox="1"/>
          <p:nvPr/>
        </p:nvSpPr>
        <p:spPr>
          <a:xfrm>
            <a:off x="179512" y="2348880"/>
            <a:ext cx="376961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Materialidad Muro:</a:t>
            </a:r>
          </a:p>
          <a:p>
            <a:pPr marL="214313" indent="-214313">
              <a:buFontTx/>
              <a:buChar char="-"/>
            </a:pPr>
            <a:r>
              <a:rPr lang="es-ES" dirty="0"/>
              <a:t>Fibrocemento</a:t>
            </a:r>
          </a:p>
          <a:p>
            <a:pPr marL="214313" indent="-214313">
              <a:buFontTx/>
              <a:buChar char="-"/>
            </a:pPr>
            <a:r>
              <a:rPr lang="es-ES" dirty="0"/>
              <a:t>Polietileno expandido de alta densidad</a:t>
            </a:r>
          </a:p>
          <a:p>
            <a:pPr marL="214313" indent="-214313">
              <a:buFontTx/>
              <a:buChar char="-"/>
            </a:pPr>
            <a:r>
              <a:rPr lang="es-ES" dirty="0"/>
              <a:t>Placa OSB</a:t>
            </a:r>
          </a:p>
          <a:p>
            <a:pPr marL="214313" indent="-214313">
              <a:buFontTx/>
              <a:buChar char="-"/>
            </a:pPr>
            <a:r>
              <a:rPr lang="es-ES" dirty="0"/>
              <a:t>Fieltro Asfaltico</a:t>
            </a:r>
          </a:p>
          <a:p>
            <a:pPr marL="214313" indent="-214313">
              <a:buFontTx/>
              <a:buChar char="-"/>
            </a:pPr>
            <a:r>
              <a:rPr lang="es-ES" dirty="0"/>
              <a:t>Siding en Madera</a:t>
            </a:r>
          </a:p>
          <a:p>
            <a:pPr marL="214313" indent="-214313">
              <a:buFontTx/>
              <a:buChar char="-"/>
            </a:pPr>
            <a:r>
              <a:rPr lang="es-ES" dirty="0"/>
              <a:t>Sistema EIFS en albañilería</a:t>
            </a:r>
          </a:p>
          <a:p>
            <a:pPr marL="214313" indent="-214313">
              <a:buFontTx/>
              <a:buChar char="-"/>
            </a:pPr>
            <a:endParaRPr lang="es-ES" b="1" dirty="0"/>
          </a:p>
          <a:p>
            <a:r>
              <a:rPr lang="es-ES" b="1" dirty="0"/>
              <a:t>Materialidad Techumbre</a:t>
            </a:r>
          </a:p>
          <a:p>
            <a:r>
              <a:rPr lang="es-ES" dirty="0"/>
              <a:t>Instalación de lana de vidrio </a:t>
            </a:r>
            <a:endParaRPr lang="es-CL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93D9B0B-5509-44C1-86E1-70F681447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2862" y="1124744"/>
            <a:ext cx="5659053" cy="497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6278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2123728" y="260648"/>
            <a:ext cx="442793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" sz="2800" b="1" dirty="0">
                <a:solidFill>
                  <a:srgbClr val="002060"/>
                </a:solidFill>
              </a:rPr>
              <a:t>VENTANAS TERMO PANEL</a:t>
            </a:r>
          </a:p>
        </p:txBody>
      </p:sp>
      <p:sp>
        <p:nvSpPr>
          <p:cNvPr id="17411" name="Text Box 4"/>
          <p:cNvSpPr txBox="1">
            <a:spLocks noChangeArrowheads="1"/>
          </p:cNvSpPr>
          <p:nvPr/>
        </p:nvSpPr>
        <p:spPr bwMode="auto">
          <a:xfrm>
            <a:off x="134648" y="1124744"/>
            <a:ext cx="5176152" cy="5047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s-ES" sz="1400" b="1" dirty="0"/>
              <a:t>¿Qué es Cristal </a:t>
            </a:r>
            <a:r>
              <a:rPr lang="es-ES" sz="1400" b="1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Termo panel</a:t>
            </a:r>
            <a:r>
              <a:rPr lang="es-ES" sz="1400" b="1" dirty="0"/>
              <a:t>?</a:t>
            </a:r>
          </a:p>
          <a:p>
            <a:pPr algn="just"/>
            <a:br>
              <a:rPr lang="es-ES" sz="1400" dirty="0"/>
            </a:br>
            <a:r>
              <a:rPr lang="es-ES" sz="1400" dirty="0"/>
              <a:t>Es un sistema de Doble Vidriado Hermético (</a:t>
            </a:r>
            <a:r>
              <a:rPr lang="es-ES" sz="1400" b="1" dirty="0">
                <a:hlinkClick r:id="rId3"/>
              </a:rPr>
              <a:t>DVH</a:t>
            </a:r>
            <a:r>
              <a:rPr lang="es-ES" sz="1400" dirty="0">
                <a:hlinkClick r:id="rId3"/>
              </a:rPr>
              <a:t>)</a:t>
            </a:r>
            <a:r>
              <a:rPr lang="es-ES" sz="1400" dirty="0"/>
              <a:t>, que disminuye el paso del calor y el ruido a través de una superficie vidriada. La cámara hermética de aire seco y quieto producida entre ambos cristales es la que otorga la gran capacidad aislante al Cristal Termopanel.</a:t>
            </a:r>
          </a:p>
          <a:p>
            <a:pPr algn="just"/>
            <a:endParaRPr lang="es-ES" sz="1400" b="1" dirty="0"/>
          </a:p>
          <a:p>
            <a:pPr algn="just"/>
            <a:r>
              <a:rPr lang="es-ES" sz="1400" b="1" dirty="0"/>
              <a:t>¿Cómo funciona el Cristal </a:t>
            </a:r>
            <a:r>
              <a:rPr lang="es-ES" sz="1400" b="1" u="sng" dirty="0"/>
              <a:t>Termo panel</a:t>
            </a:r>
            <a:r>
              <a:rPr lang="es-ES" sz="1400" b="1" dirty="0"/>
              <a:t>?</a:t>
            </a:r>
          </a:p>
          <a:p>
            <a:pPr algn="just"/>
            <a:br>
              <a:rPr lang="es-ES" sz="1400" dirty="0"/>
            </a:br>
            <a:r>
              <a:rPr lang="es-ES" sz="1400" dirty="0"/>
              <a:t>Se encapsula el aire entre dos o más láminas de cristal.  El aire encapsulado. El aire seco no es un buen conductor del calor. Aísla por conducción y convección. Dos sellos con diferentes propiedades evitan la entrada de la humedad a la cámara de aire. </a:t>
            </a:r>
          </a:p>
          <a:p>
            <a:pPr algn="just"/>
            <a:endParaRPr lang="es-ES" sz="1400" dirty="0"/>
          </a:p>
          <a:p>
            <a:pPr algn="just"/>
            <a:r>
              <a:rPr lang="es-ES" sz="1400" b="1" dirty="0"/>
              <a:t>¿Y cómo funciona el Doble Sello?</a:t>
            </a:r>
          </a:p>
          <a:p>
            <a:pPr algn="just"/>
            <a:br>
              <a:rPr lang="es-ES" sz="1400" dirty="0"/>
            </a:br>
            <a:r>
              <a:rPr lang="es-ES" sz="1400" dirty="0"/>
              <a:t>Un doble sello tiene la ventaja de presentar una doble barrera a la humedad. El primer sello consiste en Butilo, que es utilizado por su bajo porcentaje de transmisión de humedad y fácil manejo.</a:t>
            </a:r>
            <a:br>
              <a:rPr lang="es-ES" sz="1400" dirty="0"/>
            </a:br>
            <a:r>
              <a:rPr lang="es-ES" sz="1400" dirty="0"/>
              <a:t>El sello secundario entonces, es el que mantiene el termo panel unido y protege al sello primario contra la deformación mediante la rigidización de los bordes de la unidad.</a:t>
            </a:r>
          </a:p>
        </p:txBody>
      </p:sp>
      <p:pic>
        <p:nvPicPr>
          <p:cNvPr id="17412" name="Picture 6" descr="Termopanel - Burletes - Ventanal - Puerta de aluminio ... 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580112" y="1549926"/>
            <a:ext cx="3464808" cy="37581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3535D2D-28AB-45E1-B148-31FB76BB84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1801"/>
          <a:stretch/>
        </p:blipFill>
        <p:spPr>
          <a:xfrm>
            <a:off x="2483768" y="404664"/>
            <a:ext cx="5143500" cy="604867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7763428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E414E17B-80DF-426C-AF29-6B7C04D1B9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0101"/>
          <a:stretch/>
        </p:blipFill>
        <p:spPr>
          <a:xfrm>
            <a:off x="1907704" y="476672"/>
            <a:ext cx="5143500" cy="616530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6665772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3">
            <a:extLst>
              <a:ext uri="{FF2B5EF4-FFF2-40B4-BE49-F238E27FC236}">
                <a16:creationId xmlns:a16="http://schemas.microsoft.com/office/drawing/2014/main" id="{89419D36-2850-4F61-93C8-E6F1063CF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-171400"/>
            <a:ext cx="7886700" cy="1325563"/>
          </a:xfrm>
        </p:spPr>
        <p:txBody>
          <a:bodyPr>
            <a:normAutofit/>
          </a:bodyPr>
          <a:lstStyle/>
          <a:p>
            <a:r>
              <a:rPr lang="es-CL" sz="2800" b="1" dirty="0">
                <a:solidFill>
                  <a:srgbClr val="002060"/>
                </a:solidFill>
                <a:latin typeface="+mn-lt"/>
              </a:rPr>
              <a:t>CAMBIO DE PUERTA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026A06F-3A31-42DD-9E4D-EF95B4F5AB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080" y="1052734"/>
            <a:ext cx="2592288" cy="549788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23EE6D3-9555-42A8-9823-2FBEC1BDB83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000"/>
          <a:stretch/>
        </p:blipFill>
        <p:spPr>
          <a:xfrm>
            <a:off x="1346225" y="1052734"/>
            <a:ext cx="2717230" cy="549788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3001821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18297B2-26DA-459C-B9B3-A9BEBEFEF59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700"/>
          <a:stretch/>
        </p:blipFill>
        <p:spPr>
          <a:xfrm>
            <a:off x="2987824" y="1196752"/>
            <a:ext cx="5143500" cy="530120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69E733E3-CB22-46C8-AADF-48BA85F0E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0"/>
            <a:ext cx="4519414" cy="1119658"/>
          </a:xfrm>
        </p:spPr>
        <p:txBody>
          <a:bodyPr>
            <a:normAutofit/>
          </a:bodyPr>
          <a:lstStyle/>
          <a:p>
            <a:r>
              <a:rPr lang="es-CL" sz="2800" b="1" dirty="0">
                <a:solidFill>
                  <a:srgbClr val="002060"/>
                </a:solidFill>
                <a:latin typeface="+mn-lt"/>
              </a:rPr>
              <a:t>CELOSIA DE VENTILACIÓN</a:t>
            </a:r>
          </a:p>
        </p:txBody>
      </p:sp>
    </p:spTree>
    <p:extLst>
      <p:ext uri="{BB962C8B-B14F-4D97-AF65-F5344CB8AC3E}">
        <p14:creationId xmlns:p14="http://schemas.microsoft.com/office/powerpoint/2010/main" val="14476092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FA7CBAB-26F0-4D8D-BD51-0534F4A318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1992" y="471586"/>
            <a:ext cx="4515966" cy="602128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D53EA58A-287D-453B-929B-951DED731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764704"/>
            <a:ext cx="3943350" cy="1407690"/>
          </a:xfrm>
        </p:spPr>
        <p:txBody>
          <a:bodyPr>
            <a:normAutofit/>
          </a:bodyPr>
          <a:lstStyle/>
          <a:p>
            <a:r>
              <a:rPr lang="es-CL" sz="2800" b="1" dirty="0">
                <a:solidFill>
                  <a:srgbClr val="002060"/>
                </a:solidFill>
                <a:latin typeface="+mn-lt"/>
              </a:rPr>
              <a:t>EXTRACTOR DE AIRE</a:t>
            </a:r>
          </a:p>
        </p:txBody>
      </p:sp>
    </p:spTree>
    <p:extLst>
      <p:ext uri="{BB962C8B-B14F-4D97-AF65-F5344CB8AC3E}">
        <p14:creationId xmlns:p14="http://schemas.microsoft.com/office/powerpoint/2010/main" val="27050516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05B1C1E3-9436-4C7E-A3B4-2D1C0A3BDA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864" y="404664"/>
            <a:ext cx="4659982" cy="621330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E4540D09-83D7-4ED7-88CF-E5F20FE8A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692696"/>
            <a:ext cx="7886700" cy="1325563"/>
          </a:xfrm>
        </p:spPr>
        <p:txBody>
          <a:bodyPr>
            <a:normAutofit/>
          </a:bodyPr>
          <a:lstStyle/>
          <a:p>
            <a:r>
              <a:rPr lang="es-CL" sz="2800" b="1" dirty="0">
                <a:solidFill>
                  <a:srgbClr val="002060"/>
                </a:solidFill>
                <a:latin typeface="+mn-lt"/>
              </a:rPr>
              <a:t>VENTILACIÓN </a:t>
            </a:r>
            <a:br>
              <a:rPr lang="es-CL" sz="2800" b="1" dirty="0">
                <a:solidFill>
                  <a:srgbClr val="002060"/>
                </a:solidFill>
                <a:latin typeface="+mn-lt"/>
              </a:rPr>
            </a:br>
            <a:r>
              <a:rPr lang="es-CL" sz="2800" b="1" dirty="0">
                <a:solidFill>
                  <a:srgbClr val="002060"/>
                </a:solidFill>
                <a:latin typeface="+mn-lt"/>
              </a:rPr>
              <a:t>PASIVA</a:t>
            </a:r>
          </a:p>
        </p:txBody>
      </p:sp>
    </p:spTree>
    <p:extLst>
      <p:ext uri="{BB962C8B-B14F-4D97-AF65-F5344CB8AC3E}">
        <p14:creationId xmlns:p14="http://schemas.microsoft.com/office/powerpoint/2010/main" val="18480155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13" descr="Complemento-Logo-Gobierno-160x14px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" y="0"/>
            <a:ext cx="2032000" cy="332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ítulo 1"/>
          <p:cNvSpPr txBox="1">
            <a:spLocks/>
          </p:cNvSpPr>
          <p:nvPr/>
        </p:nvSpPr>
        <p:spPr>
          <a:xfrm>
            <a:off x="236292" y="1989770"/>
            <a:ext cx="8825658" cy="33295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L" sz="4000" dirty="0"/>
          </a:p>
        </p:txBody>
      </p:sp>
      <p:sp>
        <p:nvSpPr>
          <p:cNvPr id="7" name="Rectángulo 6"/>
          <p:cNvSpPr/>
          <p:nvPr/>
        </p:nvSpPr>
        <p:spPr>
          <a:xfrm>
            <a:off x="976772" y="1122657"/>
            <a:ext cx="7190456" cy="10030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s-CL" sz="4400" b="1" dirty="0">
                <a:solidFill>
                  <a:srgbClr val="002060"/>
                </a:solidFill>
              </a:rPr>
              <a:t>MUCHAS GRACIAS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A889269-FA0D-45A7-96E6-E60BE78C96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3788" y="2807060"/>
            <a:ext cx="3816424" cy="2689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668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10534</TotalTime>
  <Words>767</Words>
  <Application>Microsoft Office PowerPoint</Application>
  <PresentationFormat>Presentación en pantalla (4:3)</PresentationFormat>
  <Paragraphs>79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Corbel</vt:lpstr>
      <vt:lpstr>Wingdings</vt:lpstr>
      <vt:lpstr>Office Theme</vt:lpstr>
      <vt:lpstr>Presentación de PowerPoint</vt:lpstr>
      <vt:lpstr>CONSTRUCTORA KOTAI SpA</vt:lpstr>
      <vt:lpstr>Presentación de PowerPoint</vt:lpstr>
      <vt:lpstr>AHORRO</vt:lpstr>
      <vt:lpstr>REQUISITOS PARA POSTULAR:</vt:lpstr>
      <vt:lpstr>DOCUMENTOS PARA POSTULAR:</vt:lpstr>
      <vt:lpstr>Las familias interesadas pueden acceder:</vt:lpstr>
      <vt:lpstr>A CONTINUACIÓN  FOTOGRAFÍAS DE PROYECTOS EJECUTADOS Y SOLUCIÓN CONSTRUCTIVA…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CAMBIO DE PUERTA</vt:lpstr>
      <vt:lpstr>CELOSIA DE VENTILACIÓN</vt:lpstr>
      <vt:lpstr>EXTRACTOR DE AIRE</vt:lpstr>
      <vt:lpstr>VENTILACIÓN  PASIVA</vt:lpstr>
      <vt:lpstr>Presentación de PowerPoint</vt:lpstr>
    </vt:vector>
  </TitlesOfParts>
  <Company>Ministerio de Vivienda y Urbanismo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Carmen Hermosilla Giusti</dc:creator>
  <cp:lastModifiedBy>claudio garcia</cp:lastModifiedBy>
  <cp:revision>419</cp:revision>
  <cp:lastPrinted>2022-11-30T13:10:30Z</cp:lastPrinted>
  <dcterms:created xsi:type="dcterms:W3CDTF">2017-04-28T13:46:55Z</dcterms:created>
  <dcterms:modified xsi:type="dcterms:W3CDTF">2026-10-06T14:27:24Z</dcterms:modified>
</cp:coreProperties>
</file>