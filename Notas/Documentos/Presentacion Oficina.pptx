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sldIdLst>
    <p:sldId id="267" r:id="rId2"/>
    <p:sldId id="268" r:id="rId3"/>
    <p:sldId id="262" r:id="rId4"/>
    <p:sldId id="256" r:id="rId5"/>
    <p:sldId id="261" r:id="rId6"/>
    <p:sldId id="257" r:id="rId7"/>
    <p:sldId id="258" r:id="rId8"/>
    <p:sldId id="259" r:id="rId9"/>
    <p:sldId id="260" r:id="rId10"/>
    <p:sldId id="263" r:id="rId11"/>
    <p:sldId id="264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3AE-77AF-420A-81BC-6FF0E27986A6}" type="datetimeFigureOut">
              <a:rPr lang="es-CL" smtClean="0"/>
              <a:t>31-07-2026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7F31D-99D7-47F1-8C77-A30FA0F7D1D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44802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3AE-77AF-420A-81BC-6FF0E27986A6}" type="datetimeFigureOut">
              <a:rPr lang="es-CL" smtClean="0"/>
              <a:t>31-07-2026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7F31D-99D7-47F1-8C77-A30FA0F7D1D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66760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3AE-77AF-420A-81BC-6FF0E27986A6}" type="datetimeFigureOut">
              <a:rPr lang="es-CL" smtClean="0"/>
              <a:t>31-07-2026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7F31D-99D7-47F1-8C77-A30FA0F7D1D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37595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3AE-77AF-420A-81BC-6FF0E27986A6}" type="datetimeFigureOut">
              <a:rPr lang="es-CL" smtClean="0"/>
              <a:t>31-07-2026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7F31D-99D7-47F1-8C77-A30FA0F7D1D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25525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3AE-77AF-420A-81BC-6FF0E27986A6}" type="datetimeFigureOut">
              <a:rPr lang="es-CL" smtClean="0"/>
              <a:t>31-07-2026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7F31D-99D7-47F1-8C77-A30FA0F7D1D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05801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3AE-77AF-420A-81BC-6FF0E27986A6}" type="datetimeFigureOut">
              <a:rPr lang="es-CL" smtClean="0"/>
              <a:t>31-07-2026</a:t>
            </a:fld>
            <a:endParaRPr lang="es-CL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7F31D-99D7-47F1-8C77-A30FA0F7D1D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75114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3AE-77AF-420A-81BC-6FF0E27986A6}" type="datetimeFigureOut">
              <a:rPr lang="es-CL" smtClean="0"/>
              <a:t>31-07-2026</a:t>
            </a:fld>
            <a:endParaRPr lang="es-CL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7F31D-99D7-47F1-8C77-A30FA0F7D1D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79410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3AE-77AF-420A-81BC-6FF0E27986A6}" type="datetimeFigureOut">
              <a:rPr lang="es-CL" smtClean="0"/>
              <a:t>31-07-2026</a:t>
            </a:fld>
            <a:endParaRPr lang="es-CL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7F31D-99D7-47F1-8C77-A30FA0F7D1D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3262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3AE-77AF-420A-81BC-6FF0E27986A6}" type="datetimeFigureOut">
              <a:rPr lang="es-CL" smtClean="0"/>
              <a:t>31-07-2026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7F31D-99D7-47F1-8C77-A30FA0F7D1D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16365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3AE-77AF-420A-81BC-6FF0E27986A6}" type="datetimeFigureOut">
              <a:rPr lang="es-CL" smtClean="0"/>
              <a:t>31-07-2026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7F31D-99D7-47F1-8C77-A30FA0F7D1D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85604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3AE-77AF-420A-81BC-6FF0E27986A6}" type="datetimeFigureOut">
              <a:rPr lang="es-CL" smtClean="0"/>
              <a:t>31-07-2026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7F31D-99D7-47F1-8C77-A30FA0F7D1D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895859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3AE-77AF-420A-81BC-6FF0E27986A6}" type="datetimeFigureOut">
              <a:rPr lang="es-CL" smtClean="0"/>
              <a:t>31-07-2026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7F31D-99D7-47F1-8C77-A30FA0F7D1D0}" type="slidenum">
              <a:rPr lang="es-CL" smtClean="0"/>
              <a:t>‹Nº›</a:t>
            </a:fld>
            <a:endParaRPr lang="es-CL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06992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3AE-77AF-420A-81BC-6FF0E27986A6}" type="datetimeFigureOut">
              <a:rPr lang="es-CL" smtClean="0"/>
              <a:t>31-07-2026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7F31D-99D7-47F1-8C77-A30FA0F7D1D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46193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3AE-77AF-420A-81BC-6FF0E27986A6}" type="datetimeFigureOut">
              <a:rPr lang="es-CL" smtClean="0"/>
              <a:t>31-07-2026</a:t>
            </a:fld>
            <a:endParaRPr lang="es-CL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7F31D-99D7-47F1-8C77-A30FA0F7D1D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75235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3AE-77AF-420A-81BC-6FF0E27986A6}" type="datetimeFigureOut">
              <a:rPr lang="es-CL" smtClean="0"/>
              <a:t>31-07-2026</a:t>
            </a:fld>
            <a:endParaRPr lang="es-CL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7F31D-99D7-47F1-8C77-A30FA0F7D1D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31363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3AE-77AF-420A-81BC-6FF0E27986A6}" type="datetimeFigureOut">
              <a:rPr lang="es-CL" smtClean="0"/>
              <a:t>31-07-2026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7F31D-99D7-47F1-8C77-A30FA0F7D1D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90407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3AE-77AF-420A-81BC-6FF0E27986A6}" type="datetimeFigureOut">
              <a:rPr lang="es-CL" smtClean="0"/>
              <a:t>31-07-2026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7F31D-99D7-47F1-8C77-A30FA0F7D1D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46689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530A3AE-77AF-420A-81BC-6FF0E27986A6}" type="datetimeFigureOut">
              <a:rPr lang="es-CL" smtClean="0"/>
              <a:t>31-07-2026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B7F31D-99D7-47F1-8C77-A30FA0F7D1D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594921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EB34E6C-3E32-FE31-3247-0F14FA580D10}"/>
              </a:ext>
            </a:extLst>
          </p:cNvPr>
          <p:cNvSpPr txBox="1"/>
          <p:nvPr/>
        </p:nvSpPr>
        <p:spPr>
          <a:xfrm>
            <a:off x="2512711" y="2059073"/>
            <a:ext cx="716657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5400" b="1" dirty="0"/>
              <a:t>GRUPO EMPRESARIAL</a:t>
            </a:r>
          </a:p>
          <a:p>
            <a:pPr algn="ctr"/>
            <a:endParaRPr lang="es-CL" sz="5400" b="1" dirty="0"/>
          </a:p>
          <a:p>
            <a:pPr algn="ctr"/>
            <a:r>
              <a:rPr lang="es-CL" sz="5400" b="1" dirty="0"/>
              <a:t>  </a:t>
            </a:r>
            <a:r>
              <a:rPr lang="es-CL" sz="5400" b="1" u="sng" dirty="0"/>
              <a:t>“ALIANZA G5” </a:t>
            </a:r>
          </a:p>
        </p:txBody>
      </p:sp>
    </p:spTree>
    <p:extLst>
      <p:ext uri="{BB962C8B-B14F-4D97-AF65-F5344CB8AC3E}">
        <p14:creationId xmlns:p14="http://schemas.microsoft.com/office/powerpoint/2010/main" val="1505113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8E8D9-1FB8-9021-F619-7E7FF47FE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o 19">
            <a:extLst>
              <a:ext uri="{FF2B5EF4-FFF2-40B4-BE49-F238E27FC236}">
                <a16:creationId xmlns:a16="http://schemas.microsoft.com/office/drawing/2014/main" id="{73E54F5F-7E32-EDD4-BD08-7110C1806813}"/>
              </a:ext>
            </a:extLst>
          </p:cNvPr>
          <p:cNvGrpSpPr/>
          <p:nvPr/>
        </p:nvGrpSpPr>
        <p:grpSpPr>
          <a:xfrm>
            <a:off x="4296020" y="972846"/>
            <a:ext cx="3477289" cy="1551506"/>
            <a:chOff x="4597197" y="1001536"/>
            <a:chExt cx="3477289" cy="1551506"/>
          </a:xfrm>
        </p:grpSpPr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5DA7BB8D-0811-EEFA-7F0E-DA6B3AF52E8D}"/>
                </a:ext>
              </a:extLst>
            </p:cNvPr>
            <p:cNvSpPr/>
            <p:nvPr/>
          </p:nvSpPr>
          <p:spPr>
            <a:xfrm>
              <a:off x="4597197" y="1001536"/>
              <a:ext cx="3477289" cy="155150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2F66541E-8497-8F4D-9D9F-8382190F935B}"/>
                </a:ext>
              </a:extLst>
            </p:cNvPr>
            <p:cNvSpPr txBox="1"/>
            <p:nvPr/>
          </p:nvSpPr>
          <p:spPr>
            <a:xfrm>
              <a:off x="4649964" y="1530014"/>
              <a:ext cx="337175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CL" b="1" dirty="0"/>
                <a:t>Constructora Los Aromos Spa.</a:t>
              </a:r>
            </a:p>
            <a:p>
              <a:pPr algn="ctr"/>
              <a:r>
                <a:rPr lang="es-CL" b="1" dirty="0"/>
                <a:t>77.755.654-1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E6ECB493-89F5-8601-CA22-525013711E2B}"/>
              </a:ext>
            </a:extLst>
          </p:cNvPr>
          <p:cNvGrpSpPr/>
          <p:nvPr/>
        </p:nvGrpSpPr>
        <p:grpSpPr>
          <a:xfrm>
            <a:off x="1372924" y="2287097"/>
            <a:ext cx="3045768" cy="1767851"/>
            <a:chOff x="2122836" y="2335597"/>
            <a:chExt cx="3045768" cy="1767851"/>
          </a:xfrm>
        </p:grpSpPr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856EEB38-207D-2F73-A136-325F09489660}"/>
                </a:ext>
              </a:extLst>
            </p:cNvPr>
            <p:cNvSpPr/>
            <p:nvPr/>
          </p:nvSpPr>
          <p:spPr>
            <a:xfrm>
              <a:off x="2122836" y="2335597"/>
              <a:ext cx="3045768" cy="176785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9C19C526-9DFA-0C1E-DED8-80C5095199D2}"/>
                </a:ext>
              </a:extLst>
            </p:cNvPr>
            <p:cNvSpPr txBox="1"/>
            <p:nvPr/>
          </p:nvSpPr>
          <p:spPr>
            <a:xfrm>
              <a:off x="2340011" y="2967335"/>
              <a:ext cx="261142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CL" b="1" dirty="0"/>
                <a:t>Constructora </a:t>
              </a:r>
              <a:r>
                <a:rPr lang="es-CL" b="1" dirty="0" err="1"/>
                <a:t>Kotai</a:t>
              </a:r>
              <a:r>
                <a:rPr lang="es-CL" b="1" dirty="0"/>
                <a:t> Spa</a:t>
              </a:r>
            </a:p>
            <a:p>
              <a:pPr algn="ctr"/>
              <a:r>
                <a:rPr lang="es-CL" b="1" dirty="0"/>
                <a:t>78.117.748-2</a:t>
              </a: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22B80DBC-FDB3-5F4B-050B-6D1A86B22EA1}"/>
              </a:ext>
            </a:extLst>
          </p:cNvPr>
          <p:cNvGrpSpPr/>
          <p:nvPr/>
        </p:nvGrpSpPr>
        <p:grpSpPr>
          <a:xfrm>
            <a:off x="7124616" y="2520325"/>
            <a:ext cx="3725023" cy="1608886"/>
            <a:chOff x="7693255" y="2553042"/>
            <a:chExt cx="3725023" cy="1608886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1A2300BC-D956-F1FC-AF86-066AFD85C012}"/>
                </a:ext>
              </a:extLst>
            </p:cNvPr>
            <p:cNvSpPr/>
            <p:nvPr/>
          </p:nvSpPr>
          <p:spPr>
            <a:xfrm>
              <a:off x="7693255" y="2553042"/>
              <a:ext cx="3725023" cy="160888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7E805D45-8097-790A-63E4-FD0123D7ECF2}"/>
                </a:ext>
              </a:extLst>
            </p:cNvPr>
            <p:cNvSpPr txBox="1"/>
            <p:nvPr/>
          </p:nvSpPr>
          <p:spPr>
            <a:xfrm>
              <a:off x="8139560" y="2873522"/>
              <a:ext cx="3061544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CL" b="1" dirty="0"/>
                <a:t>Ingeniería y Construcción</a:t>
              </a:r>
            </a:p>
            <a:p>
              <a:pPr algn="ctr"/>
              <a:r>
                <a:rPr lang="es-CL" b="1" dirty="0"/>
                <a:t>Sequoia Spa</a:t>
              </a:r>
            </a:p>
            <a:p>
              <a:pPr algn="ctr"/>
              <a:r>
                <a:rPr lang="es-CL" b="1" dirty="0"/>
                <a:t>78.410.187-8</a:t>
              </a:r>
            </a:p>
            <a:p>
              <a:endParaRPr lang="es-CL" dirty="0"/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C9EDD14F-F1DD-609C-053B-E56E9783B960}"/>
              </a:ext>
            </a:extLst>
          </p:cNvPr>
          <p:cNvGrpSpPr/>
          <p:nvPr/>
        </p:nvGrpSpPr>
        <p:grpSpPr>
          <a:xfrm>
            <a:off x="1228324" y="4545120"/>
            <a:ext cx="3859802" cy="1670040"/>
            <a:chOff x="1746519" y="4606328"/>
            <a:chExt cx="3859802" cy="1670040"/>
          </a:xfrm>
        </p:grpSpPr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D80DD92C-334C-ACF9-C883-C262AC5B3551}"/>
                </a:ext>
              </a:extLst>
            </p:cNvPr>
            <p:cNvSpPr/>
            <p:nvPr/>
          </p:nvSpPr>
          <p:spPr>
            <a:xfrm>
              <a:off x="1746519" y="4606328"/>
              <a:ext cx="3859802" cy="167004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B21EC5AC-DAE8-1EC8-BDB5-A7F69D950963}"/>
                </a:ext>
              </a:extLst>
            </p:cNvPr>
            <p:cNvSpPr txBox="1"/>
            <p:nvPr/>
          </p:nvSpPr>
          <p:spPr>
            <a:xfrm>
              <a:off x="1948077" y="5004820"/>
              <a:ext cx="339528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CL" b="1" dirty="0"/>
                <a:t>Ingeniería, Construcción y </a:t>
              </a:r>
            </a:p>
            <a:p>
              <a:pPr algn="ctr"/>
              <a:r>
                <a:rPr lang="es-CL" b="1" dirty="0"/>
                <a:t>Comercializadora Paulina Spa.</a:t>
              </a:r>
            </a:p>
            <a:p>
              <a:pPr algn="ctr"/>
              <a:r>
                <a:rPr lang="es-CL" b="1" dirty="0"/>
                <a:t>78.407.167-7</a:t>
              </a:r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55B21FAA-D358-7096-D997-B2148F631277}"/>
              </a:ext>
            </a:extLst>
          </p:cNvPr>
          <p:cNvGrpSpPr/>
          <p:nvPr/>
        </p:nvGrpSpPr>
        <p:grpSpPr>
          <a:xfrm>
            <a:off x="7103876" y="4357587"/>
            <a:ext cx="3725023" cy="1882710"/>
            <a:chOff x="7566509" y="4706384"/>
            <a:chExt cx="3725023" cy="1670040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3C7AB34F-774B-289B-CD4D-746ADC416B54}"/>
                </a:ext>
              </a:extLst>
            </p:cNvPr>
            <p:cNvSpPr/>
            <p:nvPr/>
          </p:nvSpPr>
          <p:spPr>
            <a:xfrm>
              <a:off x="7566509" y="4706384"/>
              <a:ext cx="3725023" cy="167004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25356E2-7F22-0470-EB87-3FEF78590703}"/>
                </a:ext>
              </a:extLst>
            </p:cNvPr>
            <p:cNvSpPr txBox="1"/>
            <p:nvPr/>
          </p:nvSpPr>
          <p:spPr>
            <a:xfrm>
              <a:off x="8225166" y="5241703"/>
              <a:ext cx="240771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CL" b="1" dirty="0"/>
                <a:t>Constructora RF Spa.</a:t>
              </a:r>
            </a:p>
            <a:p>
              <a:pPr algn="ctr"/>
              <a:r>
                <a:rPr lang="es-CL" b="1" dirty="0"/>
                <a:t>78.301.452-1</a:t>
              </a: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88B605CE-4F9B-5D21-AB27-8F5AA66DB4A5}"/>
              </a:ext>
            </a:extLst>
          </p:cNvPr>
          <p:cNvSpPr txBox="1"/>
          <p:nvPr/>
        </p:nvSpPr>
        <p:spPr>
          <a:xfrm>
            <a:off x="3645723" y="416761"/>
            <a:ext cx="48037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200" dirty="0"/>
              <a:t>EMPRESAS DEL HOLDING</a:t>
            </a:r>
          </a:p>
        </p:txBody>
      </p:sp>
    </p:spTree>
    <p:extLst>
      <p:ext uri="{BB962C8B-B14F-4D97-AF65-F5344CB8AC3E}">
        <p14:creationId xmlns:p14="http://schemas.microsoft.com/office/powerpoint/2010/main" val="4169517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CFAAF91-6815-8898-6546-2AE4A1AB2A73}"/>
              </a:ext>
            </a:extLst>
          </p:cNvPr>
          <p:cNvSpPr txBox="1"/>
          <p:nvPr/>
        </p:nvSpPr>
        <p:spPr>
          <a:xfrm>
            <a:off x="3043002" y="494675"/>
            <a:ext cx="640739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6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DEPARTAMENTOS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C5B7518-1085-C78E-CA45-66C73496358F}"/>
              </a:ext>
            </a:extLst>
          </p:cNvPr>
          <p:cNvSpPr txBox="1"/>
          <p:nvPr/>
        </p:nvSpPr>
        <p:spPr>
          <a:xfrm>
            <a:off x="1813810" y="1978702"/>
            <a:ext cx="5245347" cy="51706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dirty="0"/>
              <a:t>Departamento Social</a:t>
            </a:r>
          </a:p>
          <a:p>
            <a:endParaRPr lang="es-CL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dirty="0"/>
              <a:t>Departamento Técnico</a:t>
            </a:r>
          </a:p>
          <a:p>
            <a:endParaRPr lang="es-CL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dirty="0"/>
              <a:t>Departamento Administrativo</a:t>
            </a:r>
          </a:p>
          <a:p>
            <a:endParaRPr lang="es-CL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dirty="0"/>
              <a:t>Departamento de Operaciones</a:t>
            </a:r>
          </a:p>
          <a:p>
            <a:endParaRPr lang="es-CL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dirty="0"/>
              <a:t>Departamento de Licitaciones</a:t>
            </a:r>
          </a:p>
          <a:p>
            <a:endParaRPr lang="es-CL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dirty="0"/>
              <a:t>Gerencia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289236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795964B-CC4A-0F9E-02B8-F23BC3AFCD56}"/>
              </a:ext>
            </a:extLst>
          </p:cNvPr>
          <p:cNvSpPr txBox="1"/>
          <p:nvPr/>
        </p:nvSpPr>
        <p:spPr>
          <a:xfrm>
            <a:off x="5120391" y="726904"/>
            <a:ext cx="16081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SOCIAL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6A2E20C-3F69-3989-CDE4-C54C35AC74A5}"/>
              </a:ext>
            </a:extLst>
          </p:cNvPr>
          <p:cNvSpPr txBox="1"/>
          <p:nvPr/>
        </p:nvSpPr>
        <p:spPr>
          <a:xfrm>
            <a:off x="1352911" y="2176285"/>
            <a:ext cx="9889246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800" dirty="0"/>
              <a:t>Captación</a:t>
            </a:r>
          </a:p>
          <a:p>
            <a:endParaRPr lang="es-CL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800" dirty="0"/>
              <a:t>Digitalización</a:t>
            </a:r>
          </a:p>
          <a:p>
            <a:endParaRPr lang="es-CL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800" dirty="0"/>
              <a:t>Administración Base Datos</a:t>
            </a:r>
          </a:p>
          <a:p>
            <a:endParaRPr lang="es-CL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800" dirty="0"/>
              <a:t>Vinculo con la Comunidad “Beneficiarios / Dirigentes”</a:t>
            </a:r>
          </a:p>
        </p:txBody>
      </p:sp>
    </p:spTree>
    <p:extLst>
      <p:ext uri="{BB962C8B-B14F-4D97-AF65-F5344CB8AC3E}">
        <p14:creationId xmlns:p14="http://schemas.microsoft.com/office/powerpoint/2010/main" val="3848699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9806801-C258-FB23-EF70-620F59D4AF11}"/>
              </a:ext>
            </a:extLst>
          </p:cNvPr>
          <p:cNvSpPr txBox="1"/>
          <p:nvPr/>
        </p:nvSpPr>
        <p:spPr>
          <a:xfrm>
            <a:off x="3291589" y="221586"/>
            <a:ext cx="50770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DEPARTAMENTO TECNICO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F7CAB88-40C2-896D-7CD0-7E4263D65D0D}"/>
              </a:ext>
            </a:extLst>
          </p:cNvPr>
          <p:cNvSpPr txBox="1"/>
          <p:nvPr/>
        </p:nvSpPr>
        <p:spPr>
          <a:xfrm>
            <a:off x="2395042" y="1900881"/>
            <a:ext cx="60935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800" dirty="0"/>
              <a:t>Visita Técnica “Planimetría”</a:t>
            </a:r>
          </a:p>
          <a:p>
            <a:endParaRPr lang="es-CL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800" dirty="0"/>
              <a:t>Confección Planos</a:t>
            </a:r>
          </a:p>
          <a:p>
            <a:endParaRPr lang="es-CL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800" dirty="0"/>
              <a:t>Presupuesto </a:t>
            </a:r>
          </a:p>
          <a:p>
            <a:endParaRPr lang="es-CL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800" dirty="0"/>
              <a:t>Presentación Proyecto Serviu</a:t>
            </a:r>
          </a:p>
          <a:p>
            <a:endParaRPr lang="es-CL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800" dirty="0"/>
              <a:t>Digitalización Proyecto</a:t>
            </a:r>
          </a:p>
        </p:txBody>
      </p:sp>
    </p:spTree>
    <p:extLst>
      <p:ext uri="{BB962C8B-B14F-4D97-AF65-F5344CB8AC3E}">
        <p14:creationId xmlns:p14="http://schemas.microsoft.com/office/powerpoint/2010/main" val="3859433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53C08DE-ED47-74F5-2ACF-373C48C17A5E}"/>
              </a:ext>
            </a:extLst>
          </p:cNvPr>
          <p:cNvSpPr txBox="1"/>
          <p:nvPr/>
        </p:nvSpPr>
        <p:spPr>
          <a:xfrm>
            <a:off x="5138336" y="226527"/>
            <a:ext cx="35642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ADMINISTRACION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5E532EC-AAF9-D0F2-A673-28B6DC0A126F}"/>
              </a:ext>
            </a:extLst>
          </p:cNvPr>
          <p:cNvSpPr txBox="1"/>
          <p:nvPr/>
        </p:nvSpPr>
        <p:spPr>
          <a:xfrm>
            <a:off x="845311" y="535737"/>
            <a:ext cx="10501378" cy="670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dirty="0"/>
              <a:t>R.R.H.H.</a:t>
            </a:r>
          </a:p>
          <a:p>
            <a:endParaRPr lang="es-CL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dirty="0"/>
              <a:t>Ingresar Costos de Operaciones</a:t>
            </a:r>
          </a:p>
          <a:p>
            <a:endParaRPr lang="es-CL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dirty="0"/>
              <a:t>Planificación Financiera</a:t>
            </a:r>
          </a:p>
          <a:p>
            <a:endParaRPr lang="es-CL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dirty="0"/>
              <a:t>Planificación Financiera</a:t>
            </a:r>
          </a:p>
          <a:p>
            <a:endParaRPr lang="es-CL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dirty="0"/>
              <a:t>Contabilidad General </a:t>
            </a:r>
          </a:p>
          <a:p>
            <a:endParaRPr lang="es-CL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dirty="0"/>
              <a:t>Realizar Pagos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dirty="0"/>
              <a:t>Gestionar Estados de Pago Serviu</a:t>
            </a:r>
          </a:p>
          <a:p>
            <a:endParaRPr lang="es-CL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dirty="0"/>
              <a:t>Supervigilar el seguimiento de pagos desde Serviu a </a:t>
            </a:r>
            <a:r>
              <a:rPr lang="es-CL" sz="2400" dirty="0" err="1"/>
              <a:t>Factoring</a:t>
            </a:r>
            <a:r>
              <a:rPr lang="es-CL" sz="2400" dirty="0"/>
              <a:t> y Empresas del Holding</a:t>
            </a:r>
          </a:p>
          <a:p>
            <a:endParaRPr lang="es-CL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11750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9587AAD-5FD9-196C-A149-6C7B08428BAB}"/>
              </a:ext>
            </a:extLst>
          </p:cNvPr>
          <p:cNvSpPr txBox="1"/>
          <p:nvPr/>
        </p:nvSpPr>
        <p:spPr>
          <a:xfrm>
            <a:off x="6096000" y="357292"/>
            <a:ext cx="29683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OPERACIONES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302C1F2-4B98-F2F1-D7CE-2E2E5487D321}"/>
              </a:ext>
            </a:extLst>
          </p:cNvPr>
          <p:cNvSpPr txBox="1"/>
          <p:nvPr/>
        </p:nvSpPr>
        <p:spPr>
          <a:xfrm>
            <a:off x="834554" y="1395042"/>
            <a:ext cx="1075284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800" dirty="0"/>
              <a:t>Cotizaciones</a:t>
            </a:r>
          </a:p>
          <a:p>
            <a:endParaRPr lang="es-CL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800" dirty="0"/>
              <a:t>Adquisición de Materiales</a:t>
            </a:r>
          </a:p>
          <a:p>
            <a:endParaRPr lang="es-CL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800" dirty="0"/>
              <a:t>Reclutamiento Personal de Terreno (Maestros)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800" dirty="0"/>
              <a:t>Vigilancia uso de Materiales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800" dirty="0"/>
              <a:t>Cubicación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800" dirty="0"/>
              <a:t>Supervigilar la Ejecución de los Proyectos “Serviu / Mercado Público / Privados”</a:t>
            </a:r>
          </a:p>
        </p:txBody>
      </p:sp>
    </p:spTree>
    <p:extLst>
      <p:ext uri="{BB962C8B-B14F-4D97-AF65-F5344CB8AC3E}">
        <p14:creationId xmlns:p14="http://schemas.microsoft.com/office/powerpoint/2010/main" val="4093314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9848A55-CCDA-060A-6253-F5C62839B83D}"/>
              </a:ext>
            </a:extLst>
          </p:cNvPr>
          <p:cNvSpPr txBox="1"/>
          <p:nvPr/>
        </p:nvSpPr>
        <p:spPr>
          <a:xfrm>
            <a:off x="3259505" y="494675"/>
            <a:ext cx="516917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LICITACIONES</a:t>
            </a:r>
          </a:p>
          <a:p>
            <a:pPr algn="ctr"/>
            <a:r>
              <a:rPr lang="es-CL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Mercado Público &amp; Privado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A3D9F4D-22BC-211B-646D-E74669AE0C32}"/>
              </a:ext>
            </a:extLst>
          </p:cNvPr>
          <p:cNvSpPr txBox="1"/>
          <p:nvPr/>
        </p:nvSpPr>
        <p:spPr>
          <a:xfrm>
            <a:off x="1240972" y="2843427"/>
            <a:ext cx="9206238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800" dirty="0"/>
              <a:t>Apoya Área Social</a:t>
            </a:r>
          </a:p>
          <a:p>
            <a:endParaRPr lang="es-CL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800" dirty="0"/>
              <a:t>Realiza Postulaciones (Mercado Publico / Sertor Privado)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443433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80CF8C4F-B354-EBCC-D795-6DF071975807}"/>
              </a:ext>
            </a:extLst>
          </p:cNvPr>
          <p:cNvSpPr txBox="1"/>
          <p:nvPr/>
        </p:nvSpPr>
        <p:spPr>
          <a:xfrm>
            <a:off x="4901783" y="674558"/>
            <a:ext cx="21723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GERENCIA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BB0C55C-4975-9450-621A-90596FAAC142}"/>
              </a:ext>
            </a:extLst>
          </p:cNvPr>
          <p:cNvSpPr txBox="1"/>
          <p:nvPr/>
        </p:nvSpPr>
        <p:spPr>
          <a:xfrm>
            <a:off x="709195" y="2409828"/>
            <a:ext cx="966367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800" dirty="0"/>
              <a:t>Supervigilar el funcionamiento de todos los Departamentos</a:t>
            </a:r>
          </a:p>
          <a:p>
            <a:endParaRPr lang="es-CL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800" dirty="0"/>
              <a:t>Representar a las Empresas del Holding donde se requiera</a:t>
            </a:r>
          </a:p>
        </p:txBody>
      </p:sp>
    </p:spTree>
    <p:extLst>
      <p:ext uri="{BB962C8B-B14F-4D97-AF65-F5344CB8AC3E}">
        <p14:creationId xmlns:p14="http://schemas.microsoft.com/office/powerpoint/2010/main" val="4194761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AEFF87A-F15C-9F95-F51C-63C86A31BE2E}"/>
              </a:ext>
            </a:extLst>
          </p:cNvPr>
          <p:cNvSpPr txBox="1"/>
          <p:nvPr/>
        </p:nvSpPr>
        <p:spPr>
          <a:xfrm>
            <a:off x="2654288" y="389745"/>
            <a:ext cx="6883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INTEGRANTES POR DEPARTAMENTO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34C82CE-6F37-FF14-1DE1-4C1E73DA964F}"/>
              </a:ext>
            </a:extLst>
          </p:cNvPr>
          <p:cNvSpPr txBox="1"/>
          <p:nvPr/>
        </p:nvSpPr>
        <p:spPr>
          <a:xfrm>
            <a:off x="486931" y="1514006"/>
            <a:ext cx="10742043" cy="52322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b="1" dirty="0"/>
              <a:t>SOCIAL: </a:t>
            </a:r>
            <a:r>
              <a:rPr lang="es-CL" sz="2400" dirty="0"/>
              <a:t>Señora Sandra / Sebastián / Srta. Monserrat</a:t>
            </a:r>
          </a:p>
          <a:p>
            <a:endParaRPr lang="es-CL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b="1" dirty="0"/>
              <a:t>TECNICA: </a:t>
            </a:r>
            <a:r>
              <a:rPr lang="es-CL" sz="2400" dirty="0"/>
              <a:t>Don José Prieto / Srta. Monserrat Parra / Don David Fierro</a:t>
            </a:r>
          </a:p>
          <a:p>
            <a:endParaRPr lang="es-CL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b="1" dirty="0"/>
              <a:t>ADMINISTRACION: </a:t>
            </a:r>
            <a:r>
              <a:rPr lang="es-CL" sz="2400" dirty="0"/>
              <a:t>Señora Paulina Contreras / Srta. Daniela Acevedo</a:t>
            </a:r>
          </a:p>
          <a:p>
            <a:endParaRPr lang="es-CL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b="1" dirty="0"/>
              <a:t>OPERACIONES: </a:t>
            </a:r>
            <a:r>
              <a:rPr lang="es-CL" sz="2400" dirty="0"/>
              <a:t>Don Jorge Rosales</a:t>
            </a:r>
          </a:p>
          <a:p>
            <a:endParaRPr lang="es-CL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b="1" dirty="0"/>
              <a:t>LICITACIONES: </a:t>
            </a:r>
            <a:r>
              <a:rPr lang="es-CL" sz="2400" dirty="0"/>
              <a:t>Don Sebastián Urzua / Don José Prieto</a:t>
            </a:r>
          </a:p>
          <a:p>
            <a:endParaRPr lang="es-CL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b="1" dirty="0"/>
              <a:t>GERENCIA:</a:t>
            </a:r>
            <a:r>
              <a:rPr lang="es-CL" sz="2400" dirty="0"/>
              <a:t> Don Claudio Garcia P.</a:t>
            </a:r>
          </a:p>
          <a:p>
            <a:endParaRPr lang="es-CL" sz="2400" dirty="0"/>
          </a:p>
          <a:p>
            <a:endParaRPr lang="es-CL" sz="2800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93432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lipse 24">
            <a:extLst>
              <a:ext uri="{FF2B5EF4-FFF2-40B4-BE49-F238E27FC236}">
                <a16:creationId xmlns:a16="http://schemas.microsoft.com/office/drawing/2014/main" id="{268AE69B-2D83-3FB2-B6DE-CDDCB46C6747}"/>
              </a:ext>
            </a:extLst>
          </p:cNvPr>
          <p:cNvSpPr/>
          <p:nvPr/>
        </p:nvSpPr>
        <p:spPr>
          <a:xfrm>
            <a:off x="7073839" y="3979261"/>
            <a:ext cx="3909934" cy="199244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EC1D1B24-AA20-9E58-EFBF-D62E1899B0C1}"/>
              </a:ext>
            </a:extLst>
          </p:cNvPr>
          <p:cNvSpPr/>
          <p:nvPr/>
        </p:nvSpPr>
        <p:spPr>
          <a:xfrm>
            <a:off x="6990143" y="1312263"/>
            <a:ext cx="3909934" cy="199244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93F442FD-70CB-1FE8-A0EC-47F816E1398F}"/>
              </a:ext>
            </a:extLst>
          </p:cNvPr>
          <p:cNvSpPr/>
          <p:nvPr/>
        </p:nvSpPr>
        <p:spPr>
          <a:xfrm>
            <a:off x="1180477" y="1342515"/>
            <a:ext cx="3909934" cy="199244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15EB4F-327B-FD2E-10C1-4867E12C015B}"/>
              </a:ext>
            </a:extLst>
          </p:cNvPr>
          <p:cNvSpPr txBox="1"/>
          <p:nvPr/>
        </p:nvSpPr>
        <p:spPr>
          <a:xfrm>
            <a:off x="4017418" y="376098"/>
            <a:ext cx="4157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CICLO TRABAJO SERVIU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21923005-C382-71A7-161E-C737D1DD7733}"/>
              </a:ext>
            </a:extLst>
          </p:cNvPr>
          <p:cNvSpPr/>
          <p:nvPr/>
        </p:nvSpPr>
        <p:spPr>
          <a:xfrm>
            <a:off x="1303183" y="3979262"/>
            <a:ext cx="3909934" cy="199244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4FA2DF8-208B-16BC-3C02-AFDA6C88CB20}"/>
              </a:ext>
            </a:extLst>
          </p:cNvPr>
          <p:cNvSpPr txBox="1"/>
          <p:nvPr/>
        </p:nvSpPr>
        <p:spPr>
          <a:xfrm>
            <a:off x="2460418" y="1990847"/>
            <a:ext cx="1889229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/>
              <a:t>Social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9CE168C-2655-BDFC-90B0-2EDB2F8D4F3B}"/>
              </a:ext>
            </a:extLst>
          </p:cNvPr>
          <p:cNvSpPr txBox="1"/>
          <p:nvPr/>
        </p:nvSpPr>
        <p:spPr>
          <a:xfrm>
            <a:off x="7880131" y="4683094"/>
            <a:ext cx="2570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200" b="1" dirty="0"/>
              <a:t>Operaciones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1539C72-A5D7-7DA7-B2E4-894874196BC8}"/>
              </a:ext>
            </a:extLst>
          </p:cNvPr>
          <p:cNvSpPr txBox="1"/>
          <p:nvPr/>
        </p:nvSpPr>
        <p:spPr>
          <a:xfrm>
            <a:off x="1741357" y="4683097"/>
            <a:ext cx="30335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200" b="1" dirty="0"/>
              <a:t>Administración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5550FEA-99D2-0F82-E328-9A2299E73982}"/>
              </a:ext>
            </a:extLst>
          </p:cNvPr>
          <p:cNvSpPr txBox="1"/>
          <p:nvPr/>
        </p:nvSpPr>
        <p:spPr>
          <a:xfrm>
            <a:off x="8087310" y="1990846"/>
            <a:ext cx="16087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200" b="1" dirty="0"/>
              <a:t>Técnica</a:t>
            </a:r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B008FE49-62F9-3049-B666-6B4E983EAC32}"/>
              </a:ext>
            </a:extLst>
          </p:cNvPr>
          <p:cNvSpPr/>
          <p:nvPr/>
        </p:nvSpPr>
        <p:spPr>
          <a:xfrm>
            <a:off x="5426439" y="2137039"/>
            <a:ext cx="1334125" cy="2923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5DE1CE25-9F06-2824-09CB-BC838F9E61B9}"/>
              </a:ext>
            </a:extLst>
          </p:cNvPr>
          <p:cNvSpPr/>
          <p:nvPr/>
        </p:nvSpPr>
        <p:spPr>
          <a:xfrm rot="10800000">
            <a:off x="5476415" y="4829287"/>
            <a:ext cx="1334125" cy="2923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FF49B884-5E43-5FD5-9804-4E7C5E47C5E5}"/>
              </a:ext>
            </a:extLst>
          </p:cNvPr>
          <p:cNvSpPr/>
          <p:nvPr/>
        </p:nvSpPr>
        <p:spPr>
          <a:xfrm rot="5400000">
            <a:off x="8352130" y="3571457"/>
            <a:ext cx="1334125" cy="2923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1" name="Signo menos 30">
            <a:extLst>
              <a:ext uri="{FF2B5EF4-FFF2-40B4-BE49-F238E27FC236}">
                <a16:creationId xmlns:a16="http://schemas.microsoft.com/office/drawing/2014/main" id="{F4AD642D-13FC-DF7F-2321-7527603652E5}"/>
              </a:ext>
            </a:extLst>
          </p:cNvPr>
          <p:cNvSpPr/>
          <p:nvPr/>
        </p:nvSpPr>
        <p:spPr>
          <a:xfrm>
            <a:off x="2051442" y="3304706"/>
            <a:ext cx="2413416" cy="779382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51134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A70D4-25B1-36DD-A15D-98E221D88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lipse 24">
            <a:extLst>
              <a:ext uri="{FF2B5EF4-FFF2-40B4-BE49-F238E27FC236}">
                <a16:creationId xmlns:a16="http://schemas.microsoft.com/office/drawing/2014/main" id="{02EB955F-ADB2-8E78-3155-C5E051FDAA13}"/>
              </a:ext>
            </a:extLst>
          </p:cNvPr>
          <p:cNvSpPr/>
          <p:nvPr/>
        </p:nvSpPr>
        <p:spPr>
          <a:xfrm>
            <a:off x="7073839" y="3979261"/>
            <a:ext cx="3909934" cy="199244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3A3E1A07-8F4E-3407-41E6-ADBB6EADFB02}"/>
              </a:ext>
            </a:extLst>
          </p:cNvPr>
          <p:cNvSpPr/>
          <p:nvPr/>
        </p:nvSpPr>
        <p:spPr>
          <a:xfrm>
            <a:off x="6990143" y="1312263"/>
            <a:ext cx="3909934" cy="199244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BAF585B4-6A96-7A47-DDC4-F54AF2593FF0}"/>
              </a:ext>
            </a:extLst>
          </p:cNvPr>
          <p:cNvSpPr/>
          <p:nvPr/>
        </p:nvSpPr>
        <p:spPr>
          <a:xfrm>
            <a:off x="1180477" y="1342515"/>
            <a:ext cx="3909934" cy="199244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B177B24-F24D-E05E-137E-A0FC0314CAAE}"/>
              </a:ext>
            </a:extLst>
          </p:cNvPr>
          <p:cNvSpPr txBox="1"/>
          <p:nvPr/>
        </p:nvSpPr>
        <p:spPr>
          <a:xfrm>
            <a:off x="2460418" y="314076"/>
            <a:ext cx="79283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CICLO TRABAJO MERCADO PUBLICO / PRIVADO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B7E1ED74-650F-908B-969A-C0902ED22E1D}"/>
              </a:ext>
            </a:extLst>
          </p:cNvPr>
          <p:cNvSpPr/>
          <p:nvPr/>
        </p:nvSpPr>
        <p:spPr>
          <a:xfrm>
            <a:off x="1303183" y="3979262"/>
            <a:ext cx="3909934" cy="199244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9BFC26B-D081-35AA-AFA5-4B93E737354E}"/>
              </a:ext>
            </a:extLst>
          </p:cNvPr>
          <p:cNvSpPr txBox="1"/>
          <p:nvPr/>
        </p:nvSpPr>
        <p:spPr>
          <a:xfrm>
            <a:off x="1808923" y="1990846"/>
            <a:ext cx="2966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/>
              <a:t>Licitaciones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449D709-2DB3-1737-673B-2436C8BA9441}"/>
              </a:ext>
            </a:extLst>
          </p:cNvPr>
          <p:cNvSpPr txBox="1"/>
          <p:nvPr/>
        </p:nvSpPr>
        <p:spPr>
          <a:xfrm>
            <a:off x="7880131" y="4683094"/>
            <a:ext cx="2570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200" b="1" dirty="0"/>
              <a:t>Operaciones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C756E58-E0D4-F320-53F6-707ADBE849BE}"/>
              </a:ext>
            </a:extLst>
          </p:cNvPr>
          <p:cNvSpPr txBox="1"/>
          <p:nvPr/>
        </p:nvSpPr>
        <p:spPr>
          <a:xfrm>
            <a:off x="1741357" y="4683097"/>
            <a:ext cx="30335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200" b="1" dirty="0"/>
              <a:t>Administración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B493290-6183-D0EF-9CB6-4C7017C770F6}"/>
              </a:ext>
            </a:extLst>
          </p:cNvPr>
          <p:cNvSpPr txBox="1"/>
          <p:nvPr/>
        </p:nvSpPr>
        <p:spPr>
          <a:xfrm>
            <a:off x="8087310" y="1990846"/>
            <a:ext cx="16087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200" b="1" dirty="0"/>
              <a:t>Técnica</a:t>
            </a:r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93CDB3C4-44CC-6668-7380-6F99B4B86B75}"/>
              </a:ext>
            </a:extLst>
          </p:cNvPr>
          <p:cNvSpPr/>
          <p:nvPr/>
        </p:nvSpPr>
        <p:spPr>
          <a:xfrm>
            <a:off x="5426439" y="2137039"/>
            <a:ext cx="1334125" cy="2923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9ABCC482-7B58-ADB8-EDD8-4F515BCF4433}"/>
              </a:ext>
            </a:extLst>
          </p:cNvPr>
          <p:cNvSpPr/>
          <p:nvPr/>
        </p:nvSpPr>
        <p:spPr>
          <a:xfrm rot="10800000">
            <a:off x="5476415" y="4829287"/>
            <a:ext cx="1334125" cy="2923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AE23A28C-83F2-7AFD-78C0-52BA94C10703}"/>
              </a:ext>
            </a:extLst>
          </p:cNvPr>
          <p:cNvSpPr/>
          <p:nvPr/>
        </p:nvSpPr>
        <p:spPr>
          <a:xfrm rot="5400000">
            <a:off x="8352130" y="3571457"/>
            <a:ext cx="1334125" cy="2923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1" name="Signo menos 30">
            <a:extLst>
              <a:ext uri="{FF2B5EF4-FFF2-40B4-BE49-F238E27FC236}">
                <a16:creationId xmlns:a16="http://schemas.microsoft.com/office/drawing/2014/main" id="{528B3770-BFBF-EB8F-2230-2F08176C9127}"/>
              </a:ext>
            </a:extLst>
          </p:cNvPr>
          <p:cNvSpPr/>
          <p:nvPr/>
        </p:nvSpPr>
        <p:spPr>
          <a:xfrm>
            <a:off x="2051442" y="3304706"/>
            <a:ext cx="2413416" cy="779382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343370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84</TotalTime>
  <Words>263</Words>
  <Application>Microsoft Office PowerPoint</Application>
  <PresentationFormat>Panorámica</PresentationFormat>
  <Paragraphs>107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8</cp:revision>
  <dcterms:created xsi:type="dcterms:W3CDTF">2026-07-31T18:47:49Z</dcterms:created>
  <dcterms:modified xsi:type="dcterms:W3CDTF">2026-07-31T20:15:25Z</dcterms:modified>
</cp:coreProperties>
</file>